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57" r:id="rId3"/>
    <p:sldId id="258" r:id="rId4"/>
    <p:sldId id="261" r:id="rId5"/>
    <p:sldId id="259" r:id="rId6"/>
    <p:sldId id="290" r:id="rId7"/>
    <p:sldId id="291" r:id="rId8"/>
    <p:sldId id="292" r:id="rId9"/>
    <p:sldId id="262" r:id="rId10"/>
    <p:sldId id="293" r:id="rId11"/>
    <p:sldId id="294" r:id="rId12"/>
    <p:sldId id="265" r:id="rId13"/>
    <p:sldId id="266" r:id="rId14"/>
    <p:sldId id="267" r:id="rId15"/>
    <p:sldId id="268" r:id="rId16"/>
    <p:sldId id="269" r:id="rId17"/>
    <p:sldId id="270" r:id="rId18"/>
    <p:sldId id="295" r:id="rId19"/>
    <p:sldId id="297" r:id="rId20"/>
    <p:sldId id="298" r:id="rId21"/>
    <p:sldId id="299" r:id="rId22"/>
    <p:sldId id="300" r:id="rId23"/>
    <p:sldId id="301" r:id="rId24"/>
    <p:sldId id="302" r:id="rId25"/>
    <p:sldId id="288" r:id="rId26"/>
    <p:sldId id="289" r:id="rId27"/>
  </p:sldIdLst>
  <p:sldSz cx="9144000" cy="5143500" type="screen16x9"/>
  <p:notesSz cx="6858000" cy="9144000"/>
  <p:embeddedFontLst>
    <p:embeddedFont>
      <p:font typeface="Calibri" panose="020F0502020204030204" pitchFamily="34" charset="0"/>
      <p:regular r:id="rId29"/>
      <p:bold r:id="rId30"/>
      <p:italic r:id="rId31"/>
      <p:boldItalic r:id="rId32"/>
    </p:embeddedFont>
    <p:embeddedFont>
      <p:font typeface="Lato" panose="020F0502020204030203" pitchFamily="34" charset="0"/>
      <p:regular r:id="rId33"/>
      <p:bold r:id="rId34"/>
      <p:italic r:id="rId35"/>
      <p:boldItalic r:id="rId36"/>
    </p:embeddedFont>
    <p:embeddedFont>
      <p:font typeface="Nunito" pitchFamily="2" charset="0"/>
      <p:regular r:id="rId37"/>
      <p:bold r:id="rId38"/>
      <p:italic r:id="rId39"/>
      <p:boldItalic r:id="rId40"/>
    </p:embeddedFont>
    <p:embeddedFont>
      <p:font typeface="Nunito SemiBold"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98421b7e1a_0_8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98421b7e1a_0_8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98421b7e1a_0_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98421b7e1a_0_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9331fdf9d3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9331fdf9d3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98421b7e1a_0_8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98421b7e1a_0_8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98421b7e1a_0_9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98421b7e1a_0_9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9216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98421b7e1a_0_9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98421b7e1a_0_9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7540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98421b7e1a_0_9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98421b7e1a_0_9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2162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98421b7e1a_0_8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98421b7e1a_0_8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98421b7e1a_0_8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98421b7e1a_0_8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9560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98421b7e1a_0_8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98421b7e1a_0_8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7795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985cfcbfa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985cfcbfa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9331fdf9d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9331fdf9d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9331fdf9d3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9331fdf9d3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19331fdf9d3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19331fdf9d3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9331fdf9d3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9331fdf9d3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9331fdf9d3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9331fdf9d3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9331fdf9d3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9331fdf9d3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84795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98421b7e1a_0_8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98421b7e1a_0_8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98421b7e1a_3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98421b7e1a_3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9331fdf9d3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9331fdf9d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www.ijser.org/"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996453" y="1565658"/>
            <a:ext cx="5361300" cy="1448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Natural Language Processing</a:t>
            </a:r>
            <a:endParaRPr/>
          </a:p>
        </p:txBody>
      </p:sp>
      <p:sp>
        <p:nvSpPr>
          <p:cNvPr id="129" name="Google Shape;129;p13"/>
          <p:cNvSpPr txBox="1">
            <a:spLocks noGrp="1"/>
          </p:cNvSpPr>
          <p:nvPr>
            <p:ph type="subTitle" idx="1"/>
          </p:nvPr>
        </p:nvSpPr>
        <p:spPr>
          <a:xfrm>
            <a:off x="1891350" y="2953908"/>
            <a:ext cx="5361300" cy="52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J component Review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Team Members</a:t>
            </a:r>
            <a:endParaRPr/>
          </a:p>
        </p:txBody>
      </p:sp>
      <p:sp>
        <p:nvSpPr>
          <p:cNvPr id="135" name="Google Shape;135;p14"/>
          <p:cNvSpPr txBox="1">
            <a:spLocks noGrp="1"/>
          </p:cNvSpPr>
          <p:nvPr>
            <p:ph type="body" idx="1"/>
          </p:nvPr>
        </p:nvSpPr>
        <p:spPr>
          <a:xfrm>
            <a:off x="749025" y="1438375"/>
            <a:ext cx="75057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br>
              <a:rPr lang="en" dirty="0">
                <a:latin typeface="Courier New"/>
                <a:ea typeface="Courier New"/>
                <a:cs typeface="Courier New"/>
                <a:sym typeface="Courier New"/>
              </a:rPr>
            </a:br>
            <a:r>
              <a:rPr lang="en" sz="2300" b="1" dirty="0">
                <a:latin typeface="Courier New"/>
                <a:ea typeface="Courier New"/>
                <a:cs typeface="Courier New"/>
                <a:sym typeface="Courier New"/>
              </a:rPr>
              <a:t>MRIDUL MADNANI(20BDS0191)</a:t>
            </a:r>
            <a:endParaRPr sz="2300" b="1" dirty="0">
              <a:latin typeface="Courier New"/>
              <a:ea typeface="Courier New"/>
              <a:cs typeface="Courier New"/>
              <a:sym typeface="Courier New"/>
            </a:endParaRPr>
          </a:p>
          <a:p>
            <a:pPr marL="0" lvl="0" indent="0" algn="l" rtl="0">
              <a:spcBef>
                <a:spcPts val="1200"/>
              </a:spcBef>
              <a:spcAft>
                <a:spcPts val="0"/>
              </a:spcAft>
              <a:buNone/>
            </a:pPr>
            <a:r>
              <a:rPr lang="en-IN" sz="2300" b="1" dirty="0">
                <a:latin typeface="Courier New"/>
                <a:ea typeface="Courier New"/>
                <a:cs typeface="Courier New"/>
                <a:sym typeface="Courier New"/>
              </a:rPr>
              <a:t>SUBHRONEEL BISWAS(20BDS0266)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5"/>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VIT Chatbot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8"/>
          <p:cNvSpPr txBox="1">
            <a:spLocks noGrp="1"/>
          </p:cNvSpPr>
          <p:nvPr>
            <p:ph type="title"/>
          </p:nvPr>
        </p:nvSpPr>
        <p:spPr>
          <a:xfrm>
            <a:off x="1332975" y="435925"/>
            <a:ext cx="6366900" cy="954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Problem Statement</a:t>
            </a:r>
            <a:endParaRPr/>
          </a:p>
        </p:txBody>
      </p:sp>
      <p:sp>
        <p:nvSpPr>
          <p:cNvPr id="158" name="Google Shape;158;p18"/>
          <p:cNvSpPr txBox="1"/>
          <p:nvPr/>
        </p:nvSpPr>
        <p:spPr>
          <a:xfrm>
            <a:off x="1478750" y="1552224"/>
            <a:ext cx="6221100" cy="260864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latin typeface="Nunito SemiBold"/>
                <a:ea typeface="Nunito SemiBold"/>
                <a:cs typeface="Nunito SemiBold"/>
                <a:sym typeface="Nunito SemiBold"/>
              </a:rPr>
              <a:t>In situations where your inbound traffic is higher than can reasonably be managed by human support staff, an AI chatbot is one of your best resources to handle the higher volume. </a:t>
            </a:r>
          </a:p>
          <a:p>
            <a:pPr marL="0" lvl="0" indent="0" algn="l" rtl="0">
              <a:lnSpc>
                <a:spcPct val="115000"/>
              </a:lnSpc>
              <a:spcBef>
                <a:spcPts val="0"/>
              </a:spcBef>
              <a:spcAft>
                <a:spcPts val="0"/>
              </a:spcAft>
              <a:buNone/>
            </a:pPr>
            <a:endParaRPr lang="en" dirty="0">
              <a:latin typeface="Nunito SemiBold"/>
              <a:ea typeface="Nunito SemiBold"/>
              <a:cs typeface="Nunito SemiBold"/>
              <a:sym typeface="Nunito SemiBold"/>
            </a:endParaRPr>
          </a:p>
          <a:p>
            <a:pPr marL="0" lvl="0" indent="0" algn="l" rtl="0">
              <a:lnSpc>
                <a:spcPct val="115000"/>
              </a:lnSpc>
              <a:spcBef>
                <a:spcPts val="0"/>
              </a:spcBef>
              <a:spcAft>
                <a:spcPts val="0"/>
              </a:spcAft>
              <a:buNone/>
            </a:pPr>
            <a:r>
              <a:rPr lang="en" dirty="0">
                <a:latin typeface="Nunito SemiBold"/>
                <a:ea typeface="Nunito SemiBold"/>
                <a:cs typeface="Nunito SemiBold"/>
                <a:sym typeface="Nunito SemiBold"/>
              </a:rPr>
              <a:t>Chatbots can be programmed to respond to FAQs in real time and, thanks to their machine learning capabilities, they can identify the intent behind those questions to strike up more meaningful, informative, and satisfying conversations with shoppers. This helps automate the customer support process and ensure shoppers receive the support necessary to satisfy their needs.</a:t>
            </a:r>
            <a:endParaRPr dirty="0">
              <a:latin typeface="Nunito SemiBold"/>
              <a:ea typeface="Nunito SemiBold"/>
              <a:cs typeface="Nunito SemiBold"/>
              <a:sym typeface="Nunito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6"/>
          <p:cNvSpPr txBox="1">
            <a:spLocks noGrp="1"/>
          </p:cNvSpPr>
          <p:nvPr>
            <p:ph type="title"/>
          </p:nvPr>
        </p:nvSpPr>
        <p:spPr>
          <a:xfrm>
            <a:off x="1332975" y="1170100"/>
            <a:ext cx="6366900" cy="29907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br>
              <a:rPr lang="en" sz="1400" b="1" dirty="0">
                <a:solidFill>
                  <a:srgbClr val="24292F"/>
                </a:solidFill>
                <a:highlight>
                  <a:srgbClr val="FFFFFF"/>
                </a:highlight>
                <a:latin typeface="Nunito SemiBold"/>
                <a:sym typeface="Nunito SemiBold"/>
              </a:rPr>
            </a:br>
            <a:br>
              <a:rPr lang="en" sz="1400" b="1" dirty="0">
                <a:solidFill>
                  <a:srgbClr val="24292F"/>
                </a:solidFill>
                <a:highlight>
                  <a:srgbClr val="FFFFFF"/>
                </a:highlight>
                <a:latin typeface="Nunito SemiBold"/>
                <a:sym typeface="Nunito SemiBold"/>
              </a:rPr>
            </a:br>
            <a:br>
              <a:rPr lang="en" sz="1400" b="1" dirty="0">
                <a:solidFill>
                  <a:srgbClr val="24292F"/>
                </a:solidFill>
                <a:highlight>
                  <a:srgbClr val="FFFFFF"/>
                </a:highlight>
                <a:latin typeface="Nunito SemiBold"/>
                <a:sym typeface="Nunito SemiBold"/>
              </a:rPr>
            </a:br>
            <a:r>
              <a:rPr lang="en" sz="1400" b="1" dirty="0">
                <a:solidFill>
                  <a:srgbClr val="24292F"/>
                </a:solidFill>
                <a:highlight>
                  <a:schemeClr val="dk1"/>
                </a:highlight>
              </a:rPr>
              <a:t>VIT chat-bot</a:t>
            </a:r>
            <a:r>
              <a:rPr lang="en" sz="1400" dirty="0">
                <a:solidFill>
                  <a:srgbClr val="24292F"/>
                </a:solidFill>
                <a:highlight>
                  <a:schemeClr val="dk1"/>
                </a:highlight>
                <a:latin typeface="Nunito SemiBold"/>
                <a:ea typeface="Nunito SemiBold"/>
                <a:cs typeface="Nunito SemiBold"/>
                <a:sym typeface="Nunito SemiBold"/>
              </a:rPr>
              <a:t> is a simple web based application which aims to provide all the necessary information regarding college. The chat-bot uses Natural Language Processing and Artificial Neural Network to have conversation with humans.</a:t>
            </a:r>
            <a:br>
              <a:rPr lang="en" sz="1400" dirty="0">
                <a:solidFill>
                  <a:srgbClr val="24292F"/>
                </a:solidFill>
                <a:highlight>
                  <a:schemeClr val="dk1"/>
                </a:highlight>
                <a:latin typeface="Nunito SemiBold"/>
                <a:ea typeface="Nunito SemiBold"/>
                <a:cs typeface="Nunito SemiBold"/>
                <a:sym typeface="Nunito SemiBold"/>
              </a:rPr>
            </a:br>
            <a:r>
              <a:rPr lang="en-US" sz="1400" dirty="0">
                <a:solidFill>
                  <a:srgbClr val="000000"/>
                </a:solidFill>
                <a:highlight>
                  <a:srgbClr val="FFFFFF"/>
                </a:highlight>
                <a:latin typeface="Nunito SemiBold"/>
                <a:ea typeface="Nunito SemiBold"/>
                <a:cs typeface="Nunito SemiBold"/>
                <a:sym typeface="Nunito SemiBold"/>
              </a:rPr>
              <a:t>VIT chatbot will responds to questions related to college posed to it in natural language as if it were a real person. It responds using a combination of pre-programmed scripts and machine learning algorithms.</a:t>
            </a:r>
            <a:br>
              <a:rPr lang="en-US" sz="1400" dirty="0">
                <a:solidFill>
                  <a:srgbClr val="000000"/>
                </a:solidFill>
                <a:highlight>
                  <a:srgbClr val="FFFFFF"/>
                </a:highlight>
                <a:latin typeface="Nunito SemiBold"/>
                <a:ea typeface="Nunito SemiBold"/>
                <a:cs typeface="Nunito SemiBold"/>
                <a:sym typeface="Nunito SemiBold"/>
              </a:rPr>
            </a:br>
            <a:r>
              <a:rPr lang="en-US" sz="1400" dirty="0">
                <a:solidFill>
                  <a:srgbClr val="000000"/>
                </a:solidFill>
                <a:highlight>
                  <a:srgbClr val="FFFFFF"/>
                </a:highlight>
                <a:latin typeface="Nunito SemiBold"/>
                <a:ea typeface="Nunito SemiBold"/>
                <a:cs typeface="Nunito SemiBold"/>
                <a:sym typeface="Nunito SemiBold"/>
              </a:rPr>
              <a:t>When asked a question, the chatbot will answer using the knowledge database that is currently available to it. If the conversation introduces a concept it isn’t programmed to understand; it will pass it to a human operator. It will learn from that interaction as well as future interactions in either case. As a result, the scope and importance of the chatbot will gradually expand.</a:t>
            </a:r>
            <a:br>
              <a:rPr lang="en-US" sz="1400" dirty="0">
                <a:solidFill>
                  <a:srgbClr val="000000"/>
                </a:solidFill>
                <a:highlight>
                  <a:srgbClr val="FFFFFF"/>
                </a:highlight>
                <a:latin typeface="Nunito SemiBold"/>
                <a:ea typeface="Nunito SemiBold"/>
                <a:cs typeface="Nunito SemiBold"/>
                <a:sym typeface="Nunito SemiBold"/>
              </a:rPr>
            </a:br>
            <a:endParaRPr sz="1400" dirty="0">
              <a:solidFill>
                <a:srgbClr val="24292F"/>
              </a:solidFill>
              <a:highlight>
                <a:srgbClr val="FFFFFF"/>
              </a:highlight>
              <a:latin typeface="Nunito SemiBold"/>
              <a:ea typeface="Nunito SemiBold"/>
              <a:cs typeface="Nunito SemiBold"/>
              <a:sym typeface="Nunito SemiBold"/>
            </a:endParaRPr>
          </a:p>
        </p:txBody>
      </p:sp>
      <p:sp>
        <p:nvSpPr>
          <p:cNvPr id="146" name="Google Shape;146;p16"/>
          <p:cNvSpPr txBox="1">
            <a:spLocks noGrp="1"/>
          </p:cNvSpPr>
          <p:nvPr>
            <p:ph type="title"/>
          </p:nvPr>
        </p:nvSpPr>
        <p:spPr>
          <a:xfrm>
            <a:off x="1332975" y="435925"/>
            <a:ext cx="6366900" cy="954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Abstract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7"/>
          <p:cNvSpPr txBox="1">
            <a:spLocks noGrp="1"/>
          </p:cNvSpPr>
          <p:nvPr>
            <p:ph type="title"/>
          </p:nvPr>
        </p:nvSpPr>
        <p:spPr>
          <a:xfrm>
            <a:off x="1393925" y="1258324"/>
            <a:ext cx="6366900" cy="3885175"/>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SzPts val="990"/>
              <a:buNone/>
            </a:pP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To analyze users queries and understand users</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message.</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To provide an answer to the query of the user very</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effectively.</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To save the time of the user since s/he does not have to</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personally go to the college for inquiry.</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This system will help the student to be updated about</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the college activities.</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The system will reply using an effective GUI which</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implies that as if a real person is talking to the user.</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endParaRPr lang="en-US" sz="3080" dirty="0"/>
          </a:p>
        </p:txBody>
      </p:sp>
      <p:sp>
        <p:nvSpPr>
          <p:cNvPr id="152" name="Google Shape;152;p17"/>
          <p:cNvSpPr txBox="1">
            <a:spLocks noGrp="1"/>
          </p:cNvSpPr>
          <p:nvPr>
            <p:ph type="title"/>
          </p:nvPr>
        </p:nvSpPr>
        <p:spPr>
          <a:xfrm>
            <a:off x="1332975" y="435925"/>
            <a:ext cx="6366900" cy="954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Objective</a:t>
            </a:r>
            <a:endParaRPr dirty="0"/>
          </a:p>
        </p:txBody>
      </p:sp>
    </p:spTree>
    <p:extLst>
      <p:ext uri="{BB962C8B-B14F-4D97-AF65-F5344CB8AC3E}">
        <p14:creationId xmlns:p14="http://schemas.microsoft.com/office/powerpoint/2010/main" val="233933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7"/>
          <p:cNvSpPr txBox="1">
            <a:spLocks noGrp="1"/>
          </p:cNvSpPr>
          <p:nvPr>
            <p:ph type="title"/>
          </p:nvPr>
        </p:nvSpPr>
        <p:spPr>
          <a:xfrm>
            <a:off x="1393925" y="1258324"/>
            <a:ext cx="6366900" cy="3885175"/>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SzPts val="990"/>
              <a:buNone/>
            </a:pPr>
            <a:r>
              <a:rPr lang="en-US" sz="1380" dirty="0">
                <a:solidFill>
                  <a:srgbClr val="000000"/>
                </a:solidFill>
                <a:highlight>
                  <a:srgbClr val="FFFFFF"/>
                </a:highlight>
                <a:latin typeface="Nunito SemiBold"/>
                <a:ea typeface="Nunito SemiBold"/>
                <a:cs typeface="Nunito SemiBold"/>
                <a:sym typeface="Nunito SemiBold"/>
              </a:rPr>
              <a:t>The major features of the chatbot are:</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College admission related queries could be answered</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through it.</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Viewing user profiles and retrieves attendance and</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grade/ pointers.</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College students can get information about</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examinations to be held.</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College students can fetch particulars about placement</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activities</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endParaRPr lang="en-US" sz="3080" dirty="0"/>
          </a:p>
        </p:txBody>
      </p:sp>
      <p:sp>
        <p:nvSpPr>
          <p:cNvPr id="152" name="Google Shape;152;p17"/>
          <p:cNvSpPr txBox="1">
            <a:spLocks noGrp="1"/>
          </p:cNvSpPr>
          <p:nvPr>
            <p:ph type="title"/>
          </p:nvPr>
        </p:nvSpPr>
        <p:spPr>
          <a:xfrm>
            <a:off x="1332975" y="435925"/>
            <a:ext cx="6366900" cy="954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Features</a:t>
            </a:r>
            <a:endParaRPr dirty="0"/>
          </a:p>
        </p:txBody>
      </p:sp>
    </p:spTree>
    <p:extLst>
      <p:ext uri="{BB962C8B-B14F-4D97-AF65-F5344CB8AC3E}">
        <p14:creationId xmlns:p14="http://schemas.microsoft.com/office/powerpoint/2010/main" val="4091508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7"/>
          <p:cNvSpPr txBox="1">
            <a:spLocks noGrp="1"/>
          </p:cNvSpPr>
          <p:nvPr>
            <p:ph type="title"/>
          </p:nvPr>
        </p:nvSpPr>
        <p:spPr>
          <a:xfrm>
            <a:off x="1393925" y="1258324"/>
            <a:ext cx="6366900" cy="3885175"/>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SzPts val="990"/>
              <a:buNone/>
            </a:pPr>
            <a:r>
              <a:rPr lang="en-US" sz="1380" dirty="0">
                <a:solidFill>
                  <a:srgbClr val="000000"/>
                </a:solidFill>
                <a:highlight>
                  <a:srgbClr val="FFFFFF"/>
                </a:highlight>
                <a:latin typeface="Nunito SemiBold"/>
                <a:ea typeface="Nunito SemiBold"/>
                <a:cs typeface="Nunito SemiBold"/>
                <a:sym typeface="Nunito SemiBold"/>
              </a:rPr>
              <a:t>It enables the students to be updated with college</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activities.</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It saves time for the students as well as teaching and</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non-teaching staffs.</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It is providing us a readily available information</a:t>
            </a: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source without taking any physical efforts.</a:t>
            </a:r>
            <a:br>
              <a:rPr lang="en-US" sz="1380" dirty="0">
                <a:solidFill>
                  <a:srgbClr val="000000"/>
                </a:solidFill>
                <a:highlight>
                  <a:srgbClr val="FFFFFF"/>
                </a:highlight>
                <a:latin typeface="Nunito SemiBold"/>
                <a:ea typeface="Nunito SemiBold"/>
                <a:cs typeface="Nunito SemiBold"/>
                <a:sym typeface="Nunito SemiBold"/>
              </a:rPr>
            </a:br>
            <a:br>
              <a:rPr lang="en-US" sz="1380" dirty="0">
                <a:solidFill>
                  <a:srgbClr val="000000"/>
                </a:solidFill>
                <a:highlight>
                  <a:srgbClr val="FFFFFF"/>
                </a:highlight>
                <a:latin typeface="Nunito SemiBold"/>
                <a:ea typeface="Nunito SemiBold"/>
                <a:cs typeface="Nunito SemiBold"/>
                <a:sym typeface="Nunito SemiBold"/>
              </a:rPr>
            </a:br>
            <a:r>
              <a:rPr lang="en-US" sz="1380" dirty="0">
                <a:solidFill>
                  <a:srgbClr val="000000"/>
                </a:solidFill>
                <a:highlight>
                  <a:srgbClr val="FFFFFF"/>
                </a:highlight>
                <a:latin typeface="Nunito SemiBold"/>
                <a:ea typeface="Nunito SemiBold"/>
                <a:cs typeface="Nunito SemiBold"/>
                <a:sym typeface="Nunito SemiBold"/>
              </a:rPr>
              <a:t> It is easily accessible and saving time and money also.</a:t>
            </a:r>
            <a:br>
              <a:rPr lang="en-US" sz="1380" dirty="0">
                <a:solidFill>
                  <a:srgbClr val="000000"/>
                </a:solidFill>
                <a:highlight>
                  <a:srgbClr val="FFFFFF"/>
                </a:highlight>
                <a:latin typeface="Nunito SemiBold"/>
                <a:ea typeface="Nunito SemiBold"/>
                <a:cs typeface="Nunito SemiBold"/>
                <a:sym typeface="Nunito SemiBold"/>
              </a:rPr>
            </a:br>
            <a:endParaRPr lang="en-US" sz="3080" dirty="0"/>
          </a:p>
        </p:txBody>
      </p:sp>
      <p:sp>
        <p:nvSpPr>
          <p:cNvPr id="152" name="Google Shape;152;p17"/>
          <p:cNvSpPr txBox="1">
            <a:spLocks noGrp="1"/>
          </p:cNvSpPr>
          <p:nvPr>
            <p:ph type="title"/>
          </p:nvPr>
        </p:nvSpPr>
        <p:spPr>
          <a:xfrm>
            <a:off x="1332975" y="435925"/>
            <a:ext cx="6366900" cy="954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Advantages</a:t>
            </a:r>
            <a:endParaRPr dirty="0"/>
          </a:p>
        </p:txBody>
      </p:sp>
    </p:spTree>
    <p:extLst>
      <p:ext uri="{BB962C8B-B14F-4D97-AF65-F5344CB8AC3E}">
        <p14:creationId xmlns:p14="http://schemas.microsoft.com/office/powerpoint/2010/main" val="3526686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9"/>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LITERATURE SURVEY</a:t>
            </a:r>
            <a:endParaRPr dirty="0"/>
          </a:p>
        </p:txBody>
      </p:sp>
      <p:sp>
        <p:nvSpPr>
          <p:cNvPr id="164" name="Google Shape;164;p19"/>
          <p:cNvSpPr txBox="1">
            <a:spLocks noGrp="1"/>
          </p:cNvSpPr>
          <p:nvPr>
            <p:ph type="body" idx="1"/>
          </p:nvPr>
        </p:nvSpPr>
        <p:spPr>
          <a:xfrm>
            <a:off x="776275" y="1519249"/>
            <a:ext cx="7505700" cy="3010221"/>
          </a:xfrm>
          <a:prstGeom prst="rect">
            <a:avLst/>
          </a:prstGeom>
        </p:spPr>
        <p:txBody>
          <a:bodyPr spcFirstLastPara="1" wrap="square" lIns="91425" tIns="91425" rIns="91425" bIns="91425" anchor="t" anchorCtr="0">
            <a:normAutofit lnSpcReduction="10000"/>
          </a:bodyPr>
          <a:lstStyle/>
          <a:p>
            <a:pPr marL="0" lvl="0" indent="0" algn="l" rtl="0">
              <a:lnSpc>
                <a:spcPct val="118571"/>
              </a:lnSpc>
              <a:spcBef>
                <a:spcPts val="0"/>
              </a:spcBef>
              <a:spcAft>
                <a:spcPts val="0"/>
              </a:spcAft>
              <a:buNone/>
            </a:pPr>
            <a:r>
              <a:rPr lang="en" sz="1400" b="1" dirty="0">
                <a:solidFill>
                  <a:srgbClr val="222222"/>
                </a:solidFill>
                <a:latin typeface="Nunito" pitchFamily="2" charset="0"/>
                <a:ea typeface="Nunito SemiBold"/>
                <a:cs typeface="Nunito SemiBold"/>
                <a:sym typeface="Nunito SemiBold"/>
              </a:rPr>
              <a:t>Title</a:t>
            </a:r>
            <a:r>
              <a:rPr lang="en" sz="1400" dirty="0">
                <a:solidFill>
                  <a:srgbClr val="222222"/>
                </a:solidFill>
                <a:latin typeface="Nunito SemiBold"/>
                <a:ea typeface="Nunito SemiBold"/>
                <a:cs typeface="Nunito SemiBold"/>
                <a:sym typeface="Nunito SemiBold"/>
              </a:rPr>
              <a:t>: </a:t>
            </a:r>
            <a:r>
              <a:rPr lang="en" sz="1500" u="sng" dirty="0">
                <a:solidFill>
                  <a:srgbClr val="222222"/>
                </a:solidFill>
                <a:latin typeface="Nunito SemiBold"/>
                <a:ea typeface="Nunito SemiBold"/>
                <a:cs typeface="Nunito SemiBold"/>
                <a:sym typeface="Nunito SemiBold"/>
              </a:rPr>
              <a:t>Implementation of a Chatbot System using AI and NLP </a:t>
            </a:r>
          </a:p>
          <a:p>
            <a:pPr marL="0" lvl="0" indent="0" algn="l" rtl="0">
              <a:lnSpc>
                <a:spcPct val="118571"/>
              </a:lnSpc>
              <a:spcBef>
                <a:spcPts val="0"/>
              </a:spcBef>
              <a:spcAft>
                <a:spcPts val="0"/>
              </a:spcAft>
              <a:buNone/>
            </a:pPr>
            <a:endParaRPr lang="en" sz="1500" u="sng" dirty="0">
              <a:solidFill>
                <a:srgbClr val="222222"/>
              </a:solidFill>
              <a:latin typeface="Nunito SemiBold"/>
              <a:ea typeface="Nunito SemiBold"/>
              <a:cs typeface="Nunito SemiBold"/>
              <a:sym typeface="Nunito SemiBold"/>
            </a:endParaRPr>
          </a:p>
          <a:p>
            <a:pPr marL="0" marR="0" lvl="0" indent="0" algn="l" defTabSz="914400" rtl="0" eaLnBrk="1" fontAlgn="auto" latinLnBrk="0" hangingPunct="1">
              <a:lnSpc>
                <a:spcPct val="118571"/>
              </a:lnSpc>
              <a:spcBef>
                <a:spcPts val="400"/>
              </a:spcBef>
              <a:spcAft>
                <a:spcPts val="400"/>
              </a:spcAft>
              <a:buClr>
                <a:srgbClr val="233A44"/>
              </a:buClr>
              <a:buSzPts val="1300"/>
              <a:buFont typeface="Calibri"/>
              <a:buNone/>
              <a:tabLst/>
              <a:defRPr/>
            </a:pPr>
            <a:r>
              <a:rPr lang="en-US" sz="1400" b="1" dirty="0">
                <a:solidFill>
                  <a:srgbClr val="222222"/>
                </a:solidFill>
                <a:latin typeface="Nunito"/>
                <a:ea typeface="Nunito SemiBold"/>
                <a:cs typeface="Nunito SemiBold"/>
                <a:sym typeface="Nunito"/>
              </a:rPr>
              <a:t>Year</a:t>
            </a:r>
            <a:r>
              <a:rPr kumimoji="0" lang="en-US" sz="1400" b="0" i="0" u="none" strike="noStrike" kern="0" cap="none" spc="0" normalizeH="0" baseline="0" noProof="0" dirty="0">
                <a:ln>
                  <a:noFill/>
                </a:ln>
                <a:solidFill>
                  <a:srgbClr val="222222"/>
                </a:solidFill>
                <a:effectLst/>
                <a:uLnTx/>
                <a:uFillTx/>
                <a:latin typeface="Nunito SemiBold"/>
                <a:ea typeface="Nunito SemiBold"/>
                <a:cs typeface="Nunito SemiBold"/>
                <a:sym typeface="Nunito SemiBold"/>
              </a:rPr>
              <a:t>: 2018 (by IJIRCST)</a:t>
            </a:r>
            <a:endParaRPr lang="en-IN" sz="1500" u="sng" dirty="0">
              <a:solidFill>
                <a:srgbClr val="222222"/>
              </a:solidFill>
              <a:latin typeface="Nunito SemiBold"/>
              <a:ea typeface="Nunito SemiBold"/>
              <a:cs typeface="Nunito SemiBold"/>
              <a:sym typeface="Nunito SemiBold"/>
            </a:endParaRPr>
          </a:p>
          <a:p>
            <a:pPr marL="0" lvl="0" indent="0" algn="l" rtl="0">
              <a:lnSpc>
                <a:spcPct val="118571"/>
              </a:lnSpc>
              <a:spcBef>
                <a:spcPts val="400"/>
              </a:spcBef>
              <a:spcAft>
                <a:spcPts val="0"/>
              </a:spcAft>
              <a:buNone/>
            </a:pPr>
            <a:r>
              <a:rPr lang="en" sz="1400" b="1" dirty="0">
                <a:solidFill>
                  <a:srgbClr val="222222"/>
                </a:solidFill>
                <a:latin typeface="Nunito "/>
                <a:ea typeface="Nunito SemiBold"/>
                <a:cs typeface="Nunito SemiBold"/>
                <a:sym typeface="Nunito SemiBold"/>
              </a:rPr>
              <a:t>Key</a:t>
            </a:r>
            <a:r>
              <a:rPr lang="en" sz="1400" dirty="0">
                <a:solidFill>
                  <a:srgbClr val="222222"/>
                </a:solidFill>
                <a:latin typeface="Nunito SemiBold"/>
                <a:ea typeface="Nunito SemiBold"/>
                <a:cs typeface="Nunito SemiBold"/>
                <a:sym typeface="Nunito SemiBold"/>
              </a:rPr>
              <a:t>:  To convert text-based, or a spoken conversation (in case of voice-based queries) into machine language then to human language. </a:t>
            </a:r>
            <a:endParaRPr sz="1400" dirty="0">
              <a:solidFill>
                <a:srgbClr val="222222"/>
              </a:solidFill>
              <a:latin typeface="Nunito SemiBold"/>
              <a:ea typeface="Nunito SemiBold"/>
              <a:cs typeface="Nunito SemiBold"/>
              <a:sym typeface="Nunito SemiBold"/>
            </a:endParaRPr>
          </a:p>
          <a:p>
            <a:pPr marL="0" lvl="0" indent="0" algn="l" rtl="0">
              <a:lnSpc>
                <a:spcPct val="118571"/>
              </a:lnSpc>
              <a:spcBef>
                <a:spcPts val="400"/>
              </a:spcBef>
              <a:spcAft>
                <a:spcPts val="0"/>
              </a:spcAft>
              <a:buNone/>
            </a:pPr>
            <a:r>
              <a:rPr lang="en" sz="1400" b="1" dirty="0">
                <a:solidFill>
                  <a:srgbClr val="222222"/>
                </a:solidFill>
                <a:latin typeface="Nunito"/>
                <a:ea typeface="Nunito"/>
                <a:cs typeface="Nunito"/>
                <a:sym typeface="Nunito"/>
              </a:rPr>
              <a:t>Technique used</a:t>
            </a:r>
            <a:r>
              <a:rPr lang="en" sz="1400" dirty="0">
                <a:solidFill>
                  <a:srgbClr val="222222"/>
                </a:solidFill>
                <a:latin typeface="Nunito SemiBold"/>
                <a:ea typeface="Nunito SemiBold"/>
                <a:cs typeface="Nunito SemiBold"/>
                <a:sym typeface="Nunito SemiBold"/>
              </a:rPr>
              <a:t>: AI,ML to store files, Lemmatization and POS Tagging Using WordNet for IR, Semantic Sentence Similarity.</a:t>
            </a:r>
          </a:p>
          <a:p>
            <a:pPr marL="0" lvl="0" indent="0" algn="l" rtl="0">
              <a:lnSpc>
                <a:spcPct val="118571"/>
              </a:lnSpc>
              <a:spcBef>
                <a:spcPts val="400"/>
              </a:spcBef>
              <a:spcAft>
                <a:spcPts val="0"/>
              </a:spcAft>
              <a:buNone/>
            </a:pPr>
            <a:r>
              <a:rPr lang="en" sz="1400" b="1" dirty="0">
                <a:solidFill>
                  <a:srgbClr val="222222"/>
                </a:solidFill>
                <a:latin typeface="Nunito" pitchFamily="2" charset="0"/>
                <a:ea typeface="Nunito SemiBold"/>
                <a:cs typeface="Nunito SemiBold"/>
                <a:sym typeface="Nunito SemiBold"/>
              </a:rPr>
              <a:t>Limitations: </a:t>
            </a:r>
            <a:r>
              <a:rPr lang="en-US" sz="1400" dirty="0">
                <a:solidFill>
                  <a:srgbClr val="222222"/>
                </a:solidFill>
                <a:latin typeface="Nunito" pitchFamily="2" charset="0"/>
                <a:ea typeface="Nunito SemiBold"/>
                <a:cs typeface="Nunito SemiBold"/>
                <a:sym typeface="Nunito SemiBold"/>
              </a:rPr>
              <a:t>Probably, the biggest drawback that conversational AI suffers is that it cannot handle complex queries or hold conversations with humans—it can handle only basic questions. </a:t>
            </a:r>
            <a:endParaRPr sz="1400" dirty="0">
              <a:solidFill>
                <a:srgbClr val="222222"/>
              </a:solidFill>
              <a:latin typeface="Nunito" pitchFamily="2" charset="0"/>
              <a:ea typeface="Nunito SemiBold"/>
              <a:cs typeface="Nunito SemiBold"/>
              <a:sym typeface="Nunito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9"/>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LITERATURE SURVEY</a:t>
            </a:r>
            <a:endParaRPr dirty="0"/>
          </a:p>
        </p:txBody>
      </p:sp>
      <p:sp>
        <p:nvSpPr>
          <p:cNvPr id="164" name="Google Shape;164;p19"/>
          <p:cNvSpPr txBox="1">
            <a:spLocks noGrp="1"/>
          </p:cNvSpPr>
          <p:nvPr>
            <p:ph type="body" idx="1"/>
          </p:nvPr>
        </p:nvSpPr>
        <p:spPr>
          <a:xfrm>
            <a:off x="776275" y="1519249"/>
            <a:ext cx="7505700" cy="3010221"/>
          </a:xfrm>
          <a:prstGeom prst="rect">
            <a:avLst/>
          </a:prstGeom>
        </p:spPr>
        <p:txBody>
          <a:bodyPr spcFirstLastPara="1" wrap="square" lIns="91425" tIns="91425" rIns="91425" bIns="91425" anchor="t" anchorCtr="0">
            <a:normAutofit fontScale="85000" lnSpcReduction="20000"/>
          </a:bodyPr>
          <a:lstStyle/>
          <a:p>
            <a:pPr marL="0" marR="0" lvl="0" indent="0" algn="l" defTabSz="914400" rtl="0" eaLnBrk="1" fontAlgn="auto" latinLnBrk="0" hangingPunct="1">
              <a:lnSpc>
                <a:spcPct val="115000"/>
              </a:lnSpc>
              <a:spcBef>
                <a:spcPts val="0"/>
              </a:spcBef>
              <a:spcAft>
                <a:spcPts val="0"/>
              </a:spcAft>
              <a:buClr>
                <a:srgbClr val="233A44"/>
              </a:buClr>
              <a:buSzPts val="1300"/>
              <a:buFont typeface="Calibri"/>
              <a:buNone/>
              <a:tabLst/>
              <a:defRPr/>
            </a:pPr>
            <a:r>
              <a:rPr lang="en" sz="1400" b="1" dirty="0">
                <a:solidFill>
                  <a:srgbClr val="222222"/>
                </a:solidFill>
                <a:latin typeface="Nunito" pitchFamily="2" charset="0"/>
                <a:ea typeface="Nunito SemiBold"/>
                <a:cs typeface="Nunito SemiBold"/>
                <a:sym typeface="Nunito SemiBold"/>
              </a:rPr>
              <a:t>Title</a:t>
            </a:r>
            <a:r>
              <a:rPr lang="en" sz="1400" dirty="0">
                <a:solidFill>
                  <a:srgbClr val="222222"/>
                </a:solidFill>
                <a:latin typeface="Nunito SemiBold"/>
                <a:ea typeface="Nunito SemiBold"/>
                <a:cs typeface="Nunito SemiBold"/>
                <a:sym typeface="Nunito SemiBold"/>
              </a:rPr>
              <a:t> </a:t>
            </a:r>
            <a:r>
              <a:rPr kumimoji="0" lang="en-IN" sz="1500" b="0" i="0" u="none" strike="noStrike" kern="0" cap="none" spc="0" normalizeH="0" baseline="0" noProof="0" dirty="0">
                <a:ln>
                  <a:noFill/>
                </a:ln>
                <a:solidFill>
                  <a:srgbClr val="233A44"/>
                </a:solidFill>
                <a:effectLst/>
                <a:uLnTx/>
                <a:uFillTx/>
                <a:latin typeface="Nunito SemiBold"/>
                <a:ea typeface="Nunito SemiBold"/>
                <a:cs typeface="Nunito SemiBold"/>
                <a:sym typeface="Nunito SemiBold"/>
              </a:rPr>
              <a:t>:</a:t>
            </a:r>
            <a:r>
              <a:rPr kumimoji="0" lang="en-IN" sz="1600" b="0" i="0" u="none" strike="noStrike" kern="0" cap="none" spc="0" normalizeH="0" baseline="0" noProof="0" dirty="0">
                <a:ln>
                  <a:noFill/>
                </a:ln>
                <a:solidFill>
                  <a:srgbClr val="233A44"/>
                </a:solidFill>
                <a:effectLst/>
                <a:uLnTx/>
                <a:uFillTx/>
                <a:latin typeface="Nunito SemiBold"/>
                <a:ea typeface="Nunito SemiBold"/>
                <a:cs typeface="Nunito SemiBold"/>
                <a:sym typeface="Nunito SemiBold"/>
              </a:rPr>
              <a:t> </a:t>
            </a:r>
            <a:r>
              <a:rPr kumimoji="0" lang="en-IN" sz="1500" b="0" i="0" u="sng" strike="noStrike" kern="0" cap="none" spc="0" normalizeH="0" baseline="0" noProof="0" dirty="0">
                <a:ln>
                  <a:noFill/>
                </a:ln>
                <a:solidFill>
                  <a:srgbClr val="233A44"/>
                </a:solidFill>
                <a:effectLst/>
                <a:uLnTx/>
                <a:uFillTx/>
                <a:latin typeface="Nunito SemiBold"/>
                <a:ea typeface="Nunito SemiBold"/>
                <a:cs typeface="Nunito SemiBold"/>
                <a:sym typeface="Nunito SemiBold"/>
              </a:rPr>
              <a:t>Recruitment Chatbots </a:t>
            </a:r>
          </a:p>
          <a:p>
            <a:pPr marL="0" lvl="0" indent="0" algn="l" rtl="0">
              <a:lnSpc>
                <a:spcPct val="118571"/>
              </a:lnSpc>
              <a:spcBef>
                <a:spcPts val="0"/>
              </a:spcBef>
              <a:spcAft>
                <a:spcPts val="0"/>
              </a:spcAft>
              <a:buNone/>
            </a:pPr>
            <a:endParaRPr lang="en" sz="1500" u="sng" dirty="0">
              <a:solidFill>
                <a:srgbClr val="222222"/>
              </a:solidFill>
              <a:latin typeface="Nunito SemiBold"/>
              <a:ea typeface="Nunito SemiBold"/>
              <a:cs typeface="Nunito SemiBold"/>
              <a:sym typeface="Nunito SemiBold"/>
            </a:endParaRPr>
          </a:p>
          <a:p>
            <a:pPr marL="0" marR="0" lvl="0" indent="0" algn="l" defTabSz="914400" rtl="0" eaLnBrk="1" fontAlgn="auto" latinLnBrk="0" hangingPunct="1">
              <a:lnSpc>
                <a:spcPct val="118571"/>
              </a:lnSpc>
              <a:spcBef>
                <a:spcPts val="400"/>
              </a:spcBef>
              <a:spcAft>
                <a:spcPts val="400"/>
              </a:spcAft>
              <a:buClr>
                <a:srgbClr val="233A44"/>
              </a:buClr>
              <a:buSzPts val="1300"/>
              <a:buFont typeface="Calibri"/>
              <a:buNone/>
              <a:tabLst/>
              <a:defRPr/>
            </a:pPr>
            <a:r>
              <a:rPr lang="en-US" sz="1400" b="1" dirty="0">
                <a:solidFill>
                  <a:srgbClr val="222222"/>
                </a:solidFill>
                <a:latin typeface="Nunito"/>
                <a:ea typeface="Nunito SemiBold"/>
                <a:cs typeface="Nunito SemiBold"/>
                <a:sym typeface="Nunito"/>
              </a:rPr>
              <a:t>Year</a:t>
            </a:r>
            <a:r>
              <a:rPr kumimoji="0" lang="en-US" sz="1400" b="0" i="0" u="none" strike="noStrike" kern="0" cap="none" spc="0" normalizeH="0" baseline="0" noProof="0" dirty="0">
                <a:ln>
                  <a:noFill/>
                </a:ln>
                <a:solidFill>
                  <a:srgbClr val="222222"/>
                </a:solidFill>
                <a:effectLst/>
                <a:uLnTx/>
                <a:uFillTx/>
                <a:latin typeface="Nunito SemiBold"/>
                <a:ea typeface="Nunito SemiBold"/>
                <a:cs typeface="Nunito SemiBold"/>
                <a:sym typeface="Nunito SemiBold"/>
              </a:rPr>
              <a:t>: 2018 (by IRJET)</a:t>
            </a:r>
            <a:endParaRPr lang="en-IN" sz="1500" u="sng" dirty="0">
              <a:solidFill>
                <a:srgbClr val="222222"/>
              </a:solidFill>
              <a:latin typeface="Nunito SemiBold"/>
              <a:ea typeface="Nunito SemiBold"/>
              <a:cs typeface="Nunito SemiBold"/>
              <a:sym typeface="Nunito SemiBold"/>
            </a:endParaRPr>
          </a:p>
          <a:p>
            <a:pPr marL="0" indent="0">
              <a:lnSpc>
                <a:spcPct val="118571"/>
              </a:lnSpc>
              <a:spcBef>
                <a:spcPts val="400"/>
              </a:spcBef>
              <a:buNone/>
            </a:pPr>
            <a:r>
              <a:rPr lang="en" sz="1400" b="1" dirty="0">
                <a:solidFill>
                  <a:srgbClr val="222222"/>
                </a:solidFill>
                <a:latin typeface="Nunito "/>
                <a:ea typeface="Nunito SemiBold"/>
                <a:cs typeface="Nunito SemiBold"/>
                <a:sym typeface="Nunito SemiBold"/>
              </a:rPr>
              <a:t>Key</a:t>
            </a:r>
            <a:r>
              <a:rPr lang="en" sz="1400" dirty="0">
                <a:solidFill>
                  <a:srgbClr val="222222"/>
                </a:solidFill>
                <a:latin typeface="Nunito SemiBold"/>
                <a:ea typeface="Nunito SemiBold"/>
                <a:cs typeface="Nunito SemiBold"/>
                <a:sym typeface="Nunito SemiBold"/>
              </a:rPr>
              <a:t>:  </a:t>
            </a:r>
            <a:r>
              <a:rPr lang="en-US" sz="1400" dirty="0">
                <a:latin typeface="Nunito SemiBold"/>
                <a:ea typeface="Nunito SemiBold"/>
                <a:cs typeface="Nunito SemiBold"/>
                <a:sym typeface="Nunito SemiBold"/>
              </a:rPr>
              <a:t>In this paper, authors have explained how the chatbot behaving as a human conversational partner are designed to comprehend a conclusive human response. In today’s world, it is difficult to collect correct information easily while hiring the right candidate. </a:t>
            </a:r>
            <a:endParaRPr sz="1400" dirty="0">
              <a:solidFill>
                <a:srgbClr val="222222"/>
              </a:solidFill>
              <a:latin typeface="Nunito SemiBold"/>
              <a:ea typeface="Nunito SemiBold"/>
              <a:cs typeface="Nunito SemiBold"/>
              <a:sym typeface="Nunito SemiBold"/>
            </a:endParaRPr>
          </a:p>
          <a:p>
            <a:pPr marL="0" lvl="0" indent="0" algn="l" rtl="0">
              <a:spcBef>
                <a:spcPts val="1200"/>
              </a:spcBef>
              <a:spcAft>
                <a:spcPts val="0"/>
              </a:spcAft>
              <a:buNone/>
            </a:pPr>
            <a:r>
              <a:rPr lang="en" sz="1400" b="1" dirty="0">
                <a:solidFill>
                  <a:srgbClr val="222222"/>
                </a:solidFill>
                <a:latin typeface="Nunito"/>
                <a:ea typeface="Nunito"/>
                <a:cs typeface="Nunito"/>
                <a:sym typeface="Nunito"/>
              </a:rPr>
              <a:t>Technique used</a:t>
            </a:r>
            <a:r>
              <a:rPr lang="en" sz="1400" dirty="0">
                <a:solidFill>
                  <a:srgbClr val="222222"/>
                </a:solidFill>
                <a:latin typeface="Nunito SemiBold"/>
                <a:ea typeface="Nunito SemiBold"/>
                <a:cs typeface="Nunito SemiBold"/>
                <a:sym typeface="Nunito SemiBold"/>
              </a:rPr>
              <a:t>: </a:t>
            </a:r>
            <a:r>
              <a:rPr lang="en-IN" sz="1400" dirty="0">
                <a:latin typeface="Nunito SemiBold"/>
                <a:ea typeface="Nunito SemiBold"/>
                <a:cs typeface="Nunito SemiBold"/>
                <a:sym typeface="Nunito SemiBold"/>
              </a:rPr>
              <a:t>It uses dialogue system 1) Goal Oriented Dialogue Systems. 2) General conversation Dialogue Systems.</a:t>
            </a:r>
          </a:p>
          <a:p>
            <a:pPr marL="0" lvl="0" indent="0" algn="l" rtl="0">
              <a:lnSpc>
                <a:spcPct val="118571"/>
              </a:lnSpc>
              <a:spcBef>
                <a:spcPts val="400"/>
              </a:spcBef>
              <a:spcAft>
                <a:spcPts val="0"/>
              </a:spcAft>
              <a:buNone/>
            </a:pPr>
            <a:r>
              <a:rPr lang="en" sz="1400" b="1" dirty="0">
                <a:solidFill>
                  <a:srgbClr val="222222"/>
                </a:solidFill>
                <a:latin typeface="Nunito" pitchFamily="2" charset="0"/>
                <a:ea typeface="Nunito SemiBold"/>
                <a:cs typeface="Nunito SemiBold"/>
                <a:sym typeface="Nunito SemiBold"/>
              </a:rPr>
              <a:t>Limitations: </a:t>
            </a:r>
          </a:p>
          <a:p>
            <a:pPr marL="0" lvl="0" indent="0" algn="l" rtl="0">
              <a:lnSpc>
                <a:spcPct val="118571"/>
              </a:lnSpc>
              <a:spcBef>
                <a:spcPts val="400"/>
              </a:spcBef>
              <a:spcAft>
                <a:spcPts val="0"/>
              </a:spcAft>
              <a:buNone/>
            </a:pPr>
            <a:r>
              <a:rPr lang="en-US" sz="1400" dirty="0">
                <a:solidFill>
                  <a:srgbClr val="222222"/>
                </a:solidFill>
                <a:latin typeface="Nunito" pitchFamily="2" charset="0"/>
                <a:ea typeface="Nunito SemiBold"/>
                <a:cs typeface="Nunito SemiBold"/>
                <a:sym typeface="Nunito SemiBold"/>
              </a:rPr>
              <a:t>• Development and Delay Risks.</a:t>
            </a:r>
          </a:p>
          <a:p>
            <a:pPr marL="0" lvl="0" indent="0" algn="l" rtl="0">
              <a:lnSpc>
                <a:spcPct val="118571"/>
              </a:lnSpc>
              <a:spcBef>
                <a:spcPts val="400"/>
              </a:spcBef>
              <a:spcAft>
                <a:spcPts val="0"/>
              </a:spcAft>
              <a:buNone/>
            </a:pPr>
            <a:r>
              <a:rPr lang="en-US" sz="1400" dirty="0">
                <a:solidFill>
                  <a:srgbClr val="222222"/>
                </a:solidFill>
                <a:latin typeface="Nunito" pitchFamily="2" charset="0"/>
                <a:ea typeface="Nunito SemiBold"/>
                <a:cs typeface="Nunito SemiBold"/>
                <a:sym typeface="Nunito SemiBold"/>
              </a:rPr>
              <a:t>• Skilled Personnel.</a:t>
            </a:r>
          </a:p>
          <a:p>
            <a:pPr marL="0" lvl="0" indent="0" algn="l" rtl="0">
              <a:lnSpc>
                <a:spcPct val="118571"/>
              </a:lnSpc>
              <a:spcBef>
                <a:spcPts val="400"/>
              </a:spcBef>
              <a:spcAft>
                <a:spcPts val="0"/>
              </a:spcAft>
              <a:buNone/>
            </a:pPr>
            <a:r>
              <a:rPr lang="en-US" sz="1400" dirty="0">
                <a:solidFill>
                  <a:srgbClr val="222222"/>
                </a:solidFill>
                <a:latin typeface="Nunito" pitchFamily="2" charset="0"/>
                <a:ea typeface="Nunito SemiBold"/>
                <a:cs typeface="Nunito SemiBold"/>
                <a:sym typeface="Nunito SemiBold"/>
              </a:rPr>
              <a:t>• Customer feedback incorporation.</a:t>
            </a:r>
            <a:endParaRPr sz="1400" dirty="0">
              <a:solidFill>
                <a:srgbClr val="222222"/>
              </a:solidFill>
              <a:latin typeface="Nunito" pitchFamily="2" charset="0"/>
              <a:ea typeface="Nunito SemiBold"/>
              <a:cs typeface="Nunito SemiBold"/>
              <a:sym typeface="Nunito SemiBold"/>
            </a:endParaRPr>
          </a:p>
        </p:txBody>
      </p:sp>
    </p:spTree>
    <p:extLst>
      <p:ext uri="{BB962C8B-B14F-4D97-AF65-F5344CB8AC3E}">
        <p14:creationId xmlns:p14="http://schemas.microsoft.com/office/powerpoint/2010/main" val="1712331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9"/>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LITERATURE SURVEY</a:t>
            </a:r>
            <a:endParaRPr dirty="0"/>
          </a:p>
        </p:txBody>
      </p:sp>
      <p:sp>
        <p:nvSpPr>
          <p:cNvPr id="164" name="Google Shape;164;p19"/>
          <p:cNvSpPr txBox="1">
            <a:spLocks noGrp="1"/>
          </p:cNvSpPr>
          <p:nvPr>
            <p:ph type="body" idx="1"/>
          </p:nvPr>
        </p:nvSpPr>
        <p:spPr>
          <a:xfrm>
            <a:off x="776275" y="1519249"/>
            <a:ext cx="7505700" cy="3010221"/>
          </a:xfrm>
          <a:prstGeom prst="rect">
            <a:avLst/>
          </a:prstGeom>
        </p:spPr>
        <p:txBody>
          <a:bodyPr spcFirstLastPara="1" wrap="square" lIns="91425" tIns="91425" rIns="91425" bIns="91425" anchor="t" anchorCtr="0">
            <a:normAutofit/>
          </a:bodyPr>
          <a:lstStyle/>
          <a:p>
            <a:pPr marL="0" marR="0" lvl="0" indent="0" algn="l" defTabSz="914400" rtl="0" eaLnBrk="1" fontAlgn="auto" latinLnBrk="0" hangingPunct="1">
              <a:lnSpc>
                <a:spcPct val="115000"/>
              </a:lnSpc>
              <a:spcBef>
                <a:spcPts val="0"/>
              </a:spcBef>
              <a:spcAft>
                <a:spcPts val="0"/>
              </a:spcAft>
              <a:buClr>
                <a:srgbClr val="233A44"/>
              </a:buClr>
              <a:buSzPts val="1300"/>
              <a:buFont typeface="Calibri"/>
              <a:buNone/>
              <a:tabLst/>
              <a:defRPr/>
            </a:pPr>
            <a:r>
              <a:rPr lang="en" sz="1400" b="1" dirty="0">
                <a:solidFill>
                  <a:srgbClr val="222222"/>
                </a:solidFill>
                <a:latin typeface="Nunito" pitchFamily="2" charset="0"/>
                <a:ea typeface="Nunito SemiBold"/>
                <a:cs typeface="Nunito SemiBold"/>
                <a:sym typeface="Nunito SemiBold"/>
              </a:rPr>
              <a:t>Title</a:t>
            </a:r>
            <a:r>
              <a:rPr lang="en" sz="1400" dirty="0">
                <a:solidFill>
                  <a:srgbClr val="222222"/>
                </a:solidFill>
                <a:latin typeface="Nunito SemiBold"/>
                <a:ea typeface="Nunito SemiBold"/>
                <a:cs typeface="Nunito SemiBold"/>
                <a:sym typeface="Nunito SemiBold"/>
              </a:rPr>
              <a:t> </a:t>
            </a:r>
            <a:r>
              <a:rPr kumimoji="0" lang="en-IN" sz="1500" b="0" i="0" u="none" strike="noStrike" kern="0" cap="none" spc="0" normalizeH="0" baseline="0" noProof="0" dirty="0">
                <a:ln>
                  <a:noFill/>
                </a:ln>
                <a:solidFill>
                  <a:srgbClr val="222222"/>
                </a:solidFill>
                <a:effectLst/>
                <a:uLnTx/>
                <a:uFillTx/>
                <a:latin typeface="Nunito SemiBold"/>
                <a:ea typeface="Nunito SemiBold"/>
                <a:cs typeface="Nunito SemiBold"/>
                <a:sym typeface="Nunito SemiBold"/>
              </a:rPr>
              <a:t>: </a:t>
            </a:r>
            <a:r>
              <a:rPr kumimoji="0" lang="en-IN" sz="1500" b="0" i="0" u="sng" strike="noStrike" kern="0" cap="none" spc="0" normalizeH="0" baseline="0" noProof="0" dirty="0">
                <a:ln>
                  <a:noFill/>
                </a:ln>
                <a:solidFill>
                  <a:srgbClr val="222222"/>
                </a:solidFill>
                <a:effectLst/>
                <a:uLnTx/>
                <a:uFillTx/>
                <a:latin typeface="Nunito SemiBold"/>
                <a:ea typeface="Nunito SemiBold"/>
                <a:cs typeface="Nunito SemiBold"/>
                <a:sym typeface="Nunito SemiBold"/>
              </a:rPr>
              <a:t>Task-based Interaction Chatbot </a:t>
            </a:r>
          </a:p>
          <a:p>
            <a:pPr marL="0" lvl="0" indent="0" algn="l" rtl="0">
              <a:lnSpc>
                <a:spcPct val="118571"/>
              </a:lnSpc>
              <a:spcBef>
                <a:spcPts val="0"/>
              </a:spcBef>
              <a:spcAft>
                <a:spcPts val="0"/>
              </a:spcAft>
              <a:buNone/>
            </a:pPr>
            <a:endParaRPr lang="en" sz="1500" u="sng" dirty="0">
              <a:solidFill>
                <a:srgbClr val="222222"/>
              </a:solidFill>
              <a:latin typeface="Nunito SemiBold"/>
              <a:ea typeface="Nunito SemiBold"/>
              <a:cs typeface="Nunito SemiBold"/>
              <a:sym typeface="Nunito SemiBold"/>
            </a:endParaRPr>
          </a:p>
          <a:p>
            <a:pPr marL="0" marR="0" lvl="0" indent="0" algn="l" defTabSz="914400" rtl="0" eaLnBrk="1" fontAlgn="auto" latinLnBrk="0" hangingPunct="1">
              <a:lnSpc>
                <a:spcPct val="118571"/>
              </a:lnSpc>
              <a:spcBef>
                <a:spcPts val="400"/>
              </a:spcBef>
              <a:spcAft>
                <a:spcPts val="400"/>
              </a:spcAft>
              <a:buClr>
                <a:srgbClr val="233A44"/>
              </a:buClr>
              <a:buSzPts val="1300"/>
              <a:buFont typeface="Calibri"/>
              <a:buNone/>
              <a:tabLst/>
              <a:defRPr/>
            </a:pPr>
            <a:r>
              <a:rPr lang="en-US" sz="1400" b="1" dirty="0">
                <a:solidFill>
                  <a:srgbClr val="222222"/>
                </a:solidFill>
                <a:latin typeface="Nunito"/>
                <a:ea typeface="Nunito SemiBold"/>
                <a:cs typeface="Nunito SemiBold"/>
                <a:sym typeface="Nunito"/>
              </a:rPr>
              <a:t>Year</a:t>
            </a:r>
            <a:r>
              <a:rPr kumimoji="0" lang="en-US" sz="1400" b="0" i="0" u="none" strike="noStrike" kern="0" cap="none" spc="0" normalizeH="0" baseline="0" noProof="0" dirty="0">
                <a:ln>
                  <a:noFill/>
                </a:ln>
                <a:solidFill>
                  <a:srgbClr val="222222"/>
                </a:solidFill>
                <a:effectLst/>
                <a:uLnTx/>
                <a:uFillTx/>
                <a:latin typeface="Nunito SemiBold"/>
                <a:ea typeface="Nunito SemiBold"/>
                <a:cs typeface="Nunito SemiBold"/>
                <a:sym typeface="Nunito SemiBold"/>
              </a:rPr>
              <a:t>: 2017-18 (by </a:t>
            </a:r>
            <a:r>
              <a:rPr lang="en-US" sz="1400" dirty="0">
                <a:solidFill>
                  <a:srgbClr val="222222"/>
                </a:solidFill>
                <a:latin typeface="Nunito SemiBold"/>
                <a:ea typeface="Nunito SemiBold"/>
                <a:cs typeface="Nunito SemiBold"/>
                <a:sym typeface="Nunito SemiBold"/>
              </a:rPr>
              <a:t>SCEIS</a:t>
            </a:r>
            <a:r>
              <a:rPr kumimoji="0" lang="en-US" sz="1400" b="0" i="0" u="none" strike="noStrike" kern="0" cap="none" spc="0" normalizeH="0" baseline="0" noProof="0" dirty="0">
                <a:ln>
                  <a:noFill/>
                </a:ln>
                <a:solidFill>
                  <a:srgbClr val="222222"/>
                </a:solidFill>
                <a:effectLst/>
                <a:uLnTx/>
                <a:uFillTx/>
                <a:latin typeface="Nunito SemiBold"/>
                <a:ea typeface="Nunito SemiBold"/>
                <a:cs typeface="Nunito SemiBold"/>
                <a:sym typeface="Nunito SemiBold"/>
              </a:rPr>
              <a:t>)</a:t>
            </a:r>
            <a:endParaRPr lang="en-IN" sz="1500" u="sng" dirty="0">
              <a:solidFill>
                <a:srgbClr val="222222"/>
              </a:solidFill>
              <a:latin typeface="Nunito SemiBold"/>
              <a:ea typeface="Nunito SemiBold"/>
              <a:cs typeface="Nunito SemiBold"/>
              <a:sym typeface="Nunito SemiBold"/>
            </a:endParaRPr>
          </a:p>
          <a:p>
            <a:pPr marL="0" indent="0">
              <a:lnSpc>
                <a:spcPct val="118571"/>
              </a:lnSpc>
              <a:spcBef>
                <a:spcPts val="400"/>
              </a:spcBef>
              <a:buNone/>
            </a:pPr>
            <a:r>
              <a:rPr lang="en" sz="1400" b="1" dirty="0">
                <a:solidFill>
                  <a:srgbClr val="222222"/>
                </a:solidFill>
                <a:latin typeface="Nunito "/>
                <a:ea typeface="Nunito SemiBold"/>
                <a:cs typeface="Nunito SemiBold"/>
                <a:sym typeface="Nunito SemiBold"/>
              </a:rPr>
              <a:t>Key</a:t>
            </a:r>
            <a:r>
              <a:rPr lang="en" sz="1400" dirty="0">
                <a:solidFill>
                  <a:srgbClr val="222222"/>
                </a:solidFill>
                <a:latin typeface="Nunito SemiBold"/>
                <a:ea typeface="Nunito SemiBold"/>
                <a:cs typeface="Nunito SemiBold"/>
                <a:sym typeface="Nunito SemiBold"/>
              </a:rPr>
              <a:t>:  </a:t>
            </a:r>
            <a:r>
              <a:rPr lang="en-US" sz="1400" dirty="0">
                <a:solidFill>
                  <a:srgbClr val="222222"/>
                </a:solidFill>
                <a:latin typeface="Nunito SemiBold"/>
                <a:ea typeface="Nunito SemiBold"/>
                <a:cs typeface="Nunito SemiBold"/>
                <a:sym typeface="Nunito SemiBold"/>
              </a:rPr>
              <a:t>It comprises of four parts first is front-end second is knowledge-base third is back-end and corpus which are training data. The communication with the user is done on front end part. NLU (natural language understanding) is used to understand the context and intent of the user input. An appropriate response is generated from user.</a:t>
            </a:r>
            <a:endParaRPr sz="1400" dirty="0">
              <a:solidFill>
                <a:srgbClr val="222222"/>
              </a:solidFill>
              <a:latin typeface="Nunito SemiBold"/>
              <a:ea typeface="Nunito SemiBold"/>
              <a:cs typeface="Nunito SemiBold"/>
              <a:sym typeface="Nunito SemiBold"/>
            </a:endParaRPr>
          </a:p>
          <a:p>
            <a:pPr marL="0" lvl="0" indent="0" algn="l" rtl="0">
              <a:lnSpc>
                <a:spcPct val="118571"/>
              </a:lnSpc>
              <a:spcBef>
                <a:spcPts val="400"/>
              </a:spcBef>
              <a:spcAft>
                <a:spcPts val="0"/>
              </a:spcAft>
              <a:buNone/>
            </a:pPr>
            <a:r>
              <a:rPr lang="en" sz="1400" b="1" dirty="0">
                <a:solidFill>
                  <a:srgbClr val="222222"/>
                </a:solidFill>
                <a:latin typeface="Nunito"/>
                <a:ea typeface="Nunito"/>
                <a:cs typeface="Nunito"/>
                <a:sym typeface="Nunito"/>
              </a:rPr>
              <a:t>Technique used</a:t>
            </a:r>
            <a:r>
              <a:rPr lang="en" sz="1400" dirty="0">
                <a:solidFill>
                  <a:srgbClr val="222222"/>
                </a:solidFill>
                <a:latin typeface="Nunito SemiBold"/>
                <a:ea typeface="Nunito SemiBold"/>
                <a:cs typeface="Nunito SemiBold"/>
                <a:sym typeface="Nunito SemiBold"/>
              </a:rPr>
              <a:t>: domains corpus, NLU, tokenization </a:t>
            </a:r>
          </a:p>
          <a:p>
            <a:pPr marL="0" lvl="0" indent="0" algn="l" rtl="0">
              <a:lnSpc>
                <a:spcPct val="118571"/>
              </a:lnSpc>
              <a:spcBef>
                <a:spcPts val="400"/>
              </a:spcBef>
              <a:spcAft>
                <a:spcPts val="0"/>
              </a:spcAft>
              <a:buNone/>
            </a:pPr>
            <a:r>
              <a:rPr lang="en" sz="1400" b="1" dirty="0">
                <a:solidFill>
                  <a:srgbClr val="222222"/>
                </a:solidFill>
                <a:latin typeface="Nunito" pitchFamily="2" charset="0"/>
                <a:ea typeface="Nunito SemiBold"/>
                <a:cs typeface="Nunito SemiBold"/>
                <a:sym typeface="Nunito SemiBold"/>
              </a:rPr>
              <a:t>Limitations: </a:t>
            </a:r>
            <a:r>
              <a:rPr lang="en-US" sz="1400" dirty="0">
                <a:solidFill>
                  <a:srgbClr val="222222"/>
                </a:solidFill>
                <a:latin typeface="Nunito" pitchFamily="2" charset="0"/>
                <a:ea typeface="Nunito SemiBold"/>
                <a:cs typeface="Nunito SemiBold"/>
                <a:sym typeface="Nunito SemiBold"/>
              </a:rPr>
              <a:t>no matter how many different questions you ask, it will deliver you with the same apology, which is quite irritating.</a:t>
            </a:r>
            <a:endParaRPr sz="1400" dirty="0">
              <a:solidFill>
                <a:srgbClr val="222222"/>
              </a:solidFill>
              <a:latin typeface="Nunito" pitchFamily="2" charset="0"/>
              <a:ea typeface="Nunito SemiBold"/>
              <a:cs typeface="Nunito SemiBold"/>
              <a:sym typeface="Nunito SemiBold"/>
            </a:endParaRPr>
          </a:p>
        </p:txBody>
      </p:sp>
    </p:spTree>
    <p:extLst>
      <p:ext uri="{BB962C8B-B14F-4D97-AF65-F5344CB8AC3E}">
        <p14:creationId xmlns:p14="http://schemas.microsoft.com/office/powerpoint/2010/main" val="3565422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2"/>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LITERATURE SURVEY</a:t>
            </a:r>
            <a:endParaRPr/>
          </a:p>
        </p:txBody>
      </p:sp>
      <p:sp>
        <p:nvSpPr>
          <p:cNvPr id="182" name="Google Shape;182;p22"/>
          <p:cNvSpPr txBox="1">
            <a:spLocks noGrp="1"/>
          </p:cNvSpPr>
          <p:nvPr>
            <p:ph type="body" idx="1"/>
          </p:nvPr>
        </p:nvSpPr>
        <p:spPr>
          <a:xfrm>
            <a:off x="819150" y="1460205"/>
            <a:ext cx="7505700" cy="31956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dirty="0">
                <a:solidFill>
                  <a:srgbClr val="222222"/>
                </a:solidFill>
                <a:latin typeface="Nunito SemiBold"/>
                <a:ea typeface="Nunito SemiBold"/>
                <a:cs typeface="Nunito SemiBold"/>
                <a:sym typeface="Nunito SemiBold"/>
              </a:rPr>
              <a:t>Title: </a:t>
            </a:r>
            <a:r>
              <a:rPr lang="en" sz="1400" dirty="0">
                <a:solidFill>
                  <a:srgbClr val="222222"/>
                </a:solidFill>
                <a:latin typeface="Nunito SemiBold"/>
                <a:ea typeface="Nunito SemiBold"/>
                <a:cs typeface="Nunito SemiBold"/>
                <a:sym typeface="Nunito SemiBold"/>
              </a:rPr>
              <a:t> </a:t>
            </a:r>
            <a:r>
              <a:rPr lang="en" sz="1500" u="sng" dirty="0">
                <a:solidFill>
                  <a:srgbClr val="222222"/>
                </a:solidFill>
                <a:latin typeface="Nunito SemiBold"/>
                <a:ea typeface="Nunito SemiBold"/>
                <a:cs typeface="Nunito SemiBold"/>
                <a:sym typeface="Nunito SemiBold"/>
              </a:rPr>
              <a:t>Intelligent Chatbot for Easy Web-Analytics Insights</a:t>
            </a:r>
            <a:endParaRPr sz="1500" u="sng" dirty="0">
              <a:solidFill>
                <a:srgbClr val="222222"/>
              </a:solidFill>
              <a:latin typeface="Nunito SemiBold"/>
              <a:ea typeface="Nunito SemiBold"/>
              <a:cs typeface="Nunito SemiBold"/>
              <a:sym typeface="Nunito SemiBold"/>
            </a:endParaRPr>
          </a:p>
          <a:p>
            <a:pPr marL="0" indent="0">
              <a:spcBef>
                <a:spcPts val="1200"/>
              </a:spcBef>
              <a:buNone/>
            </a:pPr>
            <a:r>
              <a:rPr lang="en-US" sz="1400" b="1" dirty="0">
                <a:solidFill>
                  <a:srgbClr val="222222"/>
                </a:solidFill>
                <a:latin typeface="Nunito"/>
                <a:ea typeface="Nunito"/>
                <a:cs typeface="Nunito"/>
                <a:sym typeface="Nunito"/>
              </a:rPr>
              <a:t>Year: </a:t>
            </a:r>
            <a:r>
              <a:rPr lang="en-US" sz="1400" b="1" dirty="0">
                <a:solidFill>
                  <a:srgbClr val="222222"/>
                </a:solidFill>
                <a:latin typeface="Nunito SemiBold"/>
                <a:ea typeface="Nunito"/>
                <a:cs typeface="Nunito"/>
                <a:sym typeface="Nunito SemiBold"/>
              </a:rPr>
              <a:t>2018 (by IEEE)</a:t>
            </a:r>
            <a:endParaRPr lang="en-US" sz="1400" dirty="0">
              <a:solidFill>
                <a:srgbClr val="222222"/>
              </a:solidFill>
              <a:latin typeface="Nunito SemiBold"/>
              <a:ea typeface="Nunito SemiBold"/>
              <a:cs typeface="Nunito SemiBold"/>
              <a:sym typeface="Nunito SemiBold"/>
            </a:endParaRPr>
          </a:p>
          <a:p>
            <a:pPr marL="0" lvl="0" indent="0" algn="l" rtl="0">
              <a:spcBef>
                <a:spcPts val="1200"/>
              </a:spcBef>
              <a:spcAft>
                <a:spcPts val="0"/>
              </a:spcAft>
              <a:buNone/>
            </a:pPr>
            <a:r>
              <a:rPr lang="en" sz="1400" dirty="0">
                <a:solidFill>
                  <a:srgbClr val="222222"/>
                </a:solidFill>
                <a:latin typeface="Nunito SemiBold"/>
                <a:ea typeface="Nunito SemiBold"/>
                <a:cs typeface="Nunito SemiBold"/>
                <a:sym typeface="Nunito SemiBold"/>
              </a:rPr>
              <a:t>Key: In this paper, a comparison is done based on their ease of usage, using different analytic tools. The chatbot is built using Artificial Intelligence Markup Language contain analytics' raw data and the required data is fetched from the analytics tool’s raw data. Every website note all the details user made. AIML comprises of possible queries and their responses. It consists of 3 elements such as template, categories and pattern.</a:t>
            </a:r>
            <a:endParaRPr sz="1400" dirty="0">
              <a:solidFill>
                <a:srgbClr val="222222"/>
              </a:solidFill>
              <a:latin typeface="Nunito SemiBold"/>
              <a:ea typeface="Nunito SemiBold"/>
              <a:cs typeface="Nunito SemiBold"/>
              <a:sym typeface="Nunito SemiBold"/>
            </a:endParaRPr>
          </a:p>
          <a:p>
            <a:pPr marL="0" lvl="0" indent="0" algn="l" rtl="0">
              <a:spcBef>
                <a:spcPts val="1200"/>
              </a:spcBef>
              <a:spcAft>
                <a:spcPts val="0"/>
              </a:spcAft>
              <a:buNone/>
            </a:pPr>
            <a:r>
              <a:rPr lang="en" sz="1400" b="1" dirty="0">
                <a:solidFill>
                  <a:srgbClr val="222222"/>
                </a:solidFill>
                <a:latin typeface="Nunito"/>
                <a:ea typeface="Nunito"/>
                <a:cs typeface="Nunito"/>
                <a:sym typeface="Nunito"/>
              </a:rPr>
              <a:t>Technique used: </a:t>
            </a:r>
            <a:r>
              <a:rPr lang="en" sz="1400" dirty="0">
                <a:solidFill>
                  <a:srgbClr val="222222"/>
                </a:solidFill>
                <a:latin typeface="Nunito SemiBold"/>
                <a:ea typeface="Nunito SemiBold"/>
                <a:cs typeface="Nunito SemiBold"/>
                <a:sym typeface="Nunito SemiBold"/>
              </a:rPr>
              <a:t>AIML, Lemmatization and POS Tagging</a:t>
            </a:r>
          </a:p>
          <a:p>
            <a:pPr marL="0" lvl="0" indent="0" algn="l" rtl="0">
              <a:spcBef>
                <a:spcPts val="1200"/>
              </a:spcBef>
              <a:spcAft>
                <a:spcPts val="0"/>
              </a:spcAft>
              <a:buNone/>
            </a:pPr>
            <a:r>
              <a:rPr lang="en" sz="1400" dirty="0">
                <a:solidFill>
                  <a:srgbClr val="222222"/>
                </a:solidFill>
                <a:latin typeface="Nunito SemiBold"/>
                <a:ea typeface="Nunito SemiBold"/>
                <a:cs typeface="Nunito SemiBold"/>
                <a:sym typeface="Nunito SemiBold"/>
              </a:rPr>
              <a:t>Limitations: </a:t>
            </a:r>
            <a:r>
              <a:rPr lang="en-US" sz="1400" dirty="0">
                <a:solidFill>
                  <a:srgbClr val="222222"/>
                </a:solidFill>
                <a:latin typeface="Nunito SemiBold"/>
                <a:ea typeface="Nunito SemiBold"/>
                <a:cs typeface="Nunito SemiBold"/>
                <a:sym typeface="Nunito SemiBold"/>
              </a:rPr>
              <a:t>Bots can respond to humans only to an extent they have been trained. If a customer query is beyond what the machine has been trained for, it cannot understand or respond, which can frustrate customers.</a:t>
            </a:r>
            <a:endParaRPr sz="1400" dirty="0">
              <a:solidFill>
                <a:srgbClr val="222222"/>
              </a:solidFill>
              <a:latin typeface="Nunito SemiBold"/>
              <a:ea typeface="Nunito SemiBold"/>
              <a:cs typeface="Nunito SemiBold"/>
              <a:sym typeface="Nunito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3"/>
          <p:cNvSpPr txBox="1">
            <a:spLocks noGrp="1"/>
          </p:cNvSpPr>
          <p:nvPr>
            <p:ph type="title"/>
          </p:nvPr>
        </p:nvSpPr>
        <p:spPr>
          <a:xfrm>
            <a:off x="819150" y="56465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LITERATURE SURVEY</a:t>
            </a:r>
            <a:endParaRPr/>
          </a:p>
        </p:txBody>
      </p:sp>
      <p:sp>
        <p:nvSpPr>
          <p:cNvPr id="188" name="Google Shape;188;p23"/>
          <p:cNvSpPr txBox="1">
            <a:spLocks noGrp="1"/>
          </p:cNvSpPr>
          <p:nvPr>
            <p:ph type="body" idx="1"/>
          </p:nvPr>
        </p:nvSpPr>
        <p:spPr>
          <a:xfrm>
            <a:off x="819150" y="1200150"/>
            <a:ext cx="7505700" cy="343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rgbClr val="222222"/>
                </a:solidFill>
                <a:latin typeface="Nunito SemiBold"/>
                <a:ea typeface="Nunito SemiBold"/>
                <a:cs typeface="Nunito SemiBold"/>
                <a:sym typeface="Nunito SemiBold"/>
              </a:rPr>
              <a:t>Title: </a:t>
            </a:r>
            <a:r>
              <a:rPr lang="en" sz="1400" u="sng" dirty="0">
                <a:solidFill>
                  <a:srgbClr val="222222"/>
                </a:solidFill>
                <a:latin typeface="Nunito SemiBold"/>
                <a:ea typeface="Nunito SemiBold"/>
                <a:cs typeface="Nunito SemiBold"/>
                <a:sym typeface="Nunito SemiBold"/>
              </a:rPr>
              <a:t>Develop Speech to Text Converter Using Python and Google API</a:t>
            </a:r>
            <a:endParaRPr sz="1400" u="sng" dirty="0">
              <a:solidFill>
                <a:srgbClr val="222222"/>
              </a:solidFill>
              <a:latin typeface="Nunito SemiBold"/>
              <a:ea typeface="Nunito SemiBold"/>
              <a:cs typeface="Nunito SemiBold"/>
              <a:sym typeface="Nunito SemiBold"/>
            </a:endParaRPr>
          </a:p>
          <a:p>
            <a:pPr marL="0" indent="0">
              <a:spcBef>
                <a:spcPts val="1200"/>
              </a:spcBef>
              <a:buNone/>
            </a:pPr>
            <a:r>
              <a:rPr lang="en-IN" sz="1400" b="1" dirty="0">
                <a:solidFill>
                  <a:srgbClr val="222222"/>
                </a:solidFill>
                <a:latin typeface="Nunito"/>
                <a:ea typeface="Nunito"/>
                <a:cs typeface="Nunito"/>
                <a:sym typeface="Nunito"/>
              </a:rPr>
              <a:t>Year:</a:t>
            </a:r>
            <a:r>
              <a:rPr lang="en-IN" sz="1400" dirty="0">
                <a:solidFill>
                  <a:srgbClr val="222222"/>
                </a:solidFill>
                <a:latin typeface="Nunito SemiBold"/>
                <a:ea typeface="Nunito SemiBold"/>
                <a:cs typeface="Nunito SemiBold"/>
                <a:sym typeface="Nunito SemiBold"/>
              </a:rPr>
              <a:t> 2020</a:t>
            </a:r>
          </a:p>
          <a:p>
            <a:pPr marL="0" indent="0">
              <a:spcBef>
                <a:spcPts val="1200"/>
              </a:spcBef>
              <a:buNone/>
            </a:pPr>
            <a:r>
              <a:rPr lang="en" sz="1400" dirty="0">
                <a:solidFill>
                  <a:srgbClr val="222222"/>
                </a:solidFill>
                <a:latin typeface="Nunito SemiBold"/>
                <a:ea typeface="Nunito SemiBold"/>
                <a:cs typeface="Nunito SemiBold"/>
                <a:sym typeface="Nunito SemiBold"/>
              </a:rPr>
              <a:t>Key: “Hey Siri”, “okay Google” and “Alexa” is something we say almost every day to quickly get information without having to type in the search box. They are designed in a highly efficient speech recognition software that can understand multiple accents and a 7 natural language processing algorithm to convert this speech into text. But before these smart devices find the information you asked for, they need to understand what you are saying. In this article, authors have build a simple speech to text converter with Python and the google cloud API.</a:t>
            </a:r>
            <a:endParaRPr sz="1400" dirty="0">
              <a:solidFill>
                <a:srgbClr val="222222"/>
              </a:solidFill>
              <a:latin typeface="Nunito SemiBold"/>
              <a:ea typeface="Nunito SemiBold"/>
              <a:cs typeface="Nunito SemiBold"/>
              <a:sym typeface="Nunito SemiBold"/>
            </a:endParaRPr>
          </a:p>
          <a:p>
            <a:pPr marL="0" lvl="0" indent="0" algn="l" rtl="0">
              <a:spcBef>
                <a:spcPts val="1200"/>
              </a:spcBef>
              <a:spcAft>
                <a:spcPts val="0"/>
              </a:spcAft>
              <a:buNone/>
            </a:pPr>
            <a:r>
              <a:rPr lang="en" sz="1400" b="1" dirty="0">
                <a:solidFill>
                  <a:srgbClr val="222222"/>
                </a:solidFill>
                <a:latin typeface="Nunito"/>
                <a:ea typeface="Nunito"/>
                <a:cs typeface="Nunito"/>
                <a:sym typeface="Nunito"/>
              </a:rPr>
              <a:t>Technique Used:</a:t>
            </a:r>
            <a:r>
              <a:rPr lang="en" sz="1400" dirty="0">
                <a:solidFill>
                  <a:srgbClr val="222222"/>
                </a:solidFill>
                <a:latin typeface="Nunito SemiBold"/>
                <a:ea typeface="Nunito SemiBold"/>
                <a:cs typeface="Nunito SemiBold"/>
                <a:sym typeface="Nunito SemiBold"/>
              </a:rPr>
              <a:t> natural language processing, speech-to-text, Google API, Python, Flask, hashing</a:t>
            </a:r>
            <a:endParaRPr sz="1400" dirty="0">
              <a:solidFill>
                <a:srgbClr val="222222"/>
              </a:solidFill>
              <a:latin typeface="Nunito SemiBold"/>
              <a:ea typeface="Nunito SemiBold"/>
              <a:cs typeface="Nunito SemiBold"/>
              <a:sym typeface="Nunito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4"/>
          <p:cNvSpPr txBox="1">
            <a:spLocks noGrp="1"/>
          </p:cNvSpPr>
          <p:nvPr>
            <p:ph type="title"/>
          </p:nvPr>
        </p:nvSpPr>
        <p:spPr>
          <a:xfrm>
            <a:off x="819150" y="4813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LITERATURE SURVEY</a:t>
            </a:r>
            <a:endParaRPr/>
          </a:p>
        </p:txBody>
      </p:sp>
      <p:sp>
        <p:nvSpPr>
          <p:cNvPr id="194" name="Google Shape;194;p24"/>
          <p:cNvSpPr txBox="1">
            <a:spLocks noGrp="1"/>
          </p:cNvSpPr>
          <p:nvPr>
            <p:ph type="body" idx="1"/>
          </p:nvPr>
        </p:nvSpPr>
        <p:spPr>
          <a:xfrm>
            <a:off x="819150" y="1178725"/>
            <a:ext cx="7505700" cy="32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latin typeface="Nunito SemiBold"/>
                <a:ea typeface="Nunito SemiBold"/>
                <a:cs typeface="Nunito SemiBold"/>
                <a:sym typeface="Nunito SemiBold"/>
              </a:rPr>
              <a:t>Title :</a:t>
            </a:r>
            <a:r>
              <a:rPr lang="en" sz="1500" dirty="0">
                <a:latin typeface="Nunito SemiBold"/>
                <a:ea typeface="Nunito SemiBold"/>
                <a:cs typeface="Nunito SemiBold"/>
                <a:sym typeface="Nunito SemiBold"/>
              </a:rPr>
              <a:t> </a:t>
            </a:r>
            <a:r>
              <a:rPr lang="en" sz="1500" u="sng" dirty="0">
                <a:latin typeface="Nunito SemiBold"/>
                <a:ea typeface="Nunito SemiBold"/>
                <a:cs typeface="Nunito SemiBold"/>
                <a:sym typeface="Nunito SemiBold"/>
              </a:rPr>
              <a:t>NATURAL LANGUAGE PROCESSING USING PYTHON </a:t>
            </a:r>
            <a:endParaRPr sz="1500" u="sng" dirty="0">
              <a:latin typeface="Nunito SemiBold"/>
              <a:ea typeface="Nunito SemiBold"/>
              <a:cs typeface="Nunito SemiBold"/>
              <a:sym typeface="Nunito SemiBold"/>
            </a:endParaRPr>
          </a:p>
          <a:p>
            <a:pPr marL="0" lvl="0" indent="0" algn="l" rtl="0">
              <a:spcBef>
                <a:spcPts val="1200"/>
              </a:spcBef>
              <a:spcAft>
                <a:spcPts val="0"/>
              </a:spcAft>
              <a:buNone/>
            </a:pPr>
            <a:r>
              <a:rPr lang="en" sz="1400" dirty="0">
                <a:latin typeface="Nunito SemiBold"/>
                <a:ea typeface="Nunito SemiBold"/>
                <a:cs typeface="Nunito SemiBold"/>
                <a:sym typeface="Nunito SemiBold"/>
              </a:rPr>
              <a:t>Year: 2017 (by ISSN)</a:t>
            </a:r>
          </a:p>
          <a:p>
            <a:pPr marL="0" lvl="0" indent="0" algn="l" rtl="0">
              <a:spcBef>
                <a:spcPts val="1200"/>
              </a:spcBef>
              <a:spcAft>
                <a:spcPts val="0"/>
              </a:spcAft>
              <a:buNone/>
            </a:pPr>
            <a:r>
              <a:rPr lang="en" sz="1400" dirty="0">
                <a:latin typeface="Nunito SemiBold"/>
                <a:ea typeface="Nunito SemiBold"/>
                <a:cs typeface="Nunito SemiBold"/>
                <a:sym typeface="Nunito SemiBold"/>
              </a:rPr>
              <a:t>Key: Natural Language Processing (NLP) is an area of application and research that explores how computers can be used to understand and manipulate natural language speech or text to do useful things. NLP researchers aim to gather knowledge on how human beings use and manipulate natural languages to perform desired tasks so that appropriate tools and techniques can be developed.</a:t>
            </a:r>
            <a:endParaRPr sz="1400" dirty="0">
              <a:latin typeface="Nunito SemiBold"/>
              <a:ea typeface="Nunito SemiBold"/>
              <a:cs typeface="Nunito SemiBold"/>
              <a:sym typeface="Nunito SemiBold"/>
            </a:endParaRPr>
          </a:p>
          <a:p>
            <a:pPr marL="0" lvl="0" indent="0" algn="l" rtl="0">
              <a:spcBef>
                <a:spcPts val="1200"/>
              </a:spcBef>
              <a:spcAft>
                <a:spcPts val="0"/>
              </a:spcAft>
              <a:buNone/>
            </a:pPr>
            <a:r>
              <a:rPr lang="en" sz="1400" b="1" dirty="0">
                <a:latin typeface="Nunito"/>
                <a:ea typeface="Nunito"/>
                <a:cs typeface="Nunito"/>
                <a:sym typeface="Nunito"/>
              </a:rPr>
              <a:t>Technique Used: </a:t>
            </a:r>
            <a:r>
              <a:rPr lang="en" sz="1400" dirty="0">
                <a:latin typeface="Nunito SemiBold"/>
                <a:ea typeface="Nunito SemiBold"/>
                <a:cs typeface="Nunito SemiBold"/>
                <a:sym typeface="Nunito SemiBold"/>
              </a:rPr>
              <a:t>cross-language information retrieval (CLIR), machine translation, natural language, text processing and summarization, user interfaces, speech recognition, artificial intelligence, and expert systems </a:t>
            </a:r>
          </a:p>
          <a:p>
            <a:pPr marL="0" lvl="0" indent="0" algn="l" rtl="0">
              <a:spcBef>
                <a:spcPts val="1200"/>
              </a:spcBef>
              <a:spcAft>
                <a:spcPts val="0"/>
              </a:spcAft>
              <a:buNone/>
            </a:pPr>
            <a:endParaRPr sz="1400" dirty="0">
              <a:latin typeface="Nunito SemiBold"/>
              <a:ea typeface="Nunito SemiBold"/>
              <a:cs typeface="Nunito SemiBold"/>
              <a:sym typeface="Nunito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title"/>
          </p:nvPr>
        </p:nvSpPr>
        <p:spPr>
          <a:xfrm>
            <a:off x="819150" y="39555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LITERATURE SURVEY</a:t>
            </a:r>
            <a:endParaRPr/>
          </a:p>
        </p:txBody>
      </p:sp>
      <p:sp>
        <p:nvSpPr>
          <p:cNvPr id="200" name="Google Shape;200;p25"/>
          <p:cNvSpPr txBox="1">
            <a:spLocks noGrp="1"/>
          </p:cNvSpPr>
          <p:nvPr>
            <p:ph type="body" idx="1"/>
          </p:nvPr>
        </p:nvSpPr>
        <p:spPr>
          <a:xfrm>
            <a:off x="819150" y="1047750"/>
            <a:ext cx="7505700" cy="3742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dirty="0">
                <a:latin typeface="Nunito SemiBold"/>
                <a:ea typeface="Nunito SemiBold"/>
                <a:cs typeface="Nunito SemiBold"/>
                <a:sym typeface="Nunito SemiBold"/>
              </a:rPr>
              <a:t>Title :  </a:t>
            </a:r>
            <a:r>
              <a:rPr lang="en" sz="1500" u="sng" dirty="0">
                <a:latin typeface="Nunito SemiBold"/>
                <a:ea typeface="Nunito SemiBold"/>
                <a:cs typeface="Nunito SemiBold"/>
                <a:sym typeface="Nunito SemiBold"/>
              </a:rPr>
              <a:t>Chatbot in a Campus Environment: Design of LiSA, a Virtual Assistant to Help Students in Their University </a:t>
            </a:r>
            <a:endParaRPr sz="1500" u="sng" dirty="0">
              <a:latin typeface="Nunito SemiBold"/>
              <a:ea typeface="Nunito SemiBold"/>
              <a:cs typeface="Nunito SemiBold"/>
              <a:sym typeface="Nunito SemiBold"/>
            </a:endParaRPr>
          </a:p>
          <a:p>
            <a:pPr marL="0" indent="0">
              <a:spcBef>
                <a:spcPts val="1200"/>
              </a:spcBef>
              <a:buNone/>
            </a:pPr>
            <a:r>
              <a:rPr lang="en-US" sz="1400" b="1" dirty="0">
                <a:latin typeface="Nunito"/>
                <a:ea typeface="Nunito"/>
                <a:cs typeface="Nunito"/>
                <a:sym typeface="Nunito"/>
              </a:rPr>
              <a:t>Year:</a:t>
            </a:r>
            <a:r>
              <a:rPr lang="en-US" sz="1400" dirty="0">
                <a:latin typeface="Nunito SemiBold"/>
                <a:ea typeface="Nunito SemiBold"/>
                <a:cs typeface="Nunito SemiBold"/>
                <a:sym typeface="Nunito SemiBold"/>
              </a:rPr>
              <a:t> 2018 (by Springer)</a:t>
            </a:r>
          </a:p>
          <a:p>
            <a:pPr marL="0" lvl="0" indent="0" algn="l" rtl="0">
              <a:spcBef>
                <a:spcPts val="1200"/>
              </a:spcBef>
              <a:spcAft>
                <a:spcPts val="0"/>
              </a:spcAft>
              <a:buNone/>
            </a:pPr>
            <a:r>
              <a:rPr lang="en" sz="1400" dirty="0">
                <a:latin typeface="Nunito SemiBold"/>
                <a:ea typeface="Nunito SemiBold"/>
                <a:cs typeface="Nunito SemiBold"/>
                <a:sym typeface="Nunito SemiBold"/>
              </a:rPr>
              <a:t>Key: The final scope of this work is to investigate how to design a chatbot that could help students in their campus life. The authors are using a User Centered Design approach with a specific focus on interaction and user experience aspects. The focus of this research is to understand which kind of information and services are better accessed through this kind of touch point, 6 how the chatbot personality influences the user experience and the interaction and which level of intelligence should be implemented.</a:t>
            </a:r>
            <a:endParaRPr sz="1400" dirty="0">
              <a:latin typeface="Nunito SemiBold"/>
              <a:ea typeface="Nunito SemiBold"/>
              <a:cs typeface="Nunito SemiBold"/>
              <a:sym typeface="Nunito SemiBold"/>
            </a:endParaRPr>
          </a:p>
          <a:p>
            <a:pPr marL="0" lvl="0" indent="0" algn="l" rtl="0">
              <a:spcBef>
                <a:spcPts val="1200"/>
              </a:spcBef>
              <a:spcAft>
                <a:spcPts val="0"/>
              </a:spcAft>
              <a:buNone/>
            </a:pPr>
            <a:r>
              <a:rPr lang="en" sz="1400" b="1" dirty="0">
                <a:latin typeface="Nunito"/>
                <a:ea typeface="Nunito"/>
                <a:cs typeface="Nunito"/>
                <a:sym typeface="Nunito"/>
              </a:rPr>
              <a:t>Technique Used: </a:t>
            </a:r>
            <a:r>
              <a:rPr lang="en" sz="1400" dirty="0">
                <a:latin typeface="Nunito SemiBold"/>
                <a:ea typeface="Nunito SemiBold"/>
                <a:cs typeface="Nunito SemiBold"/>
                <a:sym typeface="Nunito SemiBold"/>
              </a:rPr>
              <a:t>Information Retrieval, Spacy, NLTK, Tokenization.  </a:t>
            </a:r>
            <a:endParaRPr sz="1400" dirty="0">
              <a:latin typeface="Nunito SemiBold"/>
              <a:ea typeface="Nunito SemiBold"/>
              <a:cs typeface="Nunito SemiBold"/>
              <a:sym typeface="Nunito SemiBold"/>
            </a:endParaRPr>
          </a:p>
          <a:p>
            <a:pPr marL="0" lvl="0" indent="0" algn="l" rtl="0">
              <a:spcBef>
                <a:spcPts val="1200"/>
              </a:spcBef>
              <a:spcAft>
                <a:spcPts val="1200"/>
              </a:spcAft>
              <a:buNone/>
            </a:pPr>
            <a:endParaRPr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title"/>
          </p:nvPr>
        </p:nvSpPr>
        <p:spPr>
          <a:xfrm>
            <a:off x="819150" y="38635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LITERATURE SURVEY</a:t>
            </a:r>
            <a:endParaRPr/>
          </a:p>
        </p:txBody>
      </p:sp>
      <p:sp>
        <p:nvSpPr>
          <p:cNvPr id="206" name="Google Shape;206;p26"/>
          <p:cNvSpPr txBox="1">
            <a:spLocks noGrp="1"/>
          </p:cNvSpPr>
          <p:nvPr>
            <p:ph type="body" idx="1"/>
          </p:nvPr>
        </p:nvSpPr>
        <p:spPr>
          <a:xfrm>
            <a:off x="819150" y="1136550"/>
            <a:ext cx="7505700" cy="354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latin typeface="Nunito SemiBold"/>
                <a:ea typeface="Nunito SemiBold"/>
                <a:cs typeface="Nunito SemiBold"/>
                <a:sym typeface="Nunito SemiBold"/>
              </a:rPr>
              <a:t>Title : </a:t>
            </a:r>
            <a:r>
              <a:rPr lang="en" sz="1500" u="sng" dirty="0">
                <a:latin typeface="Nunito SemiBold"/>
                <a:ea typeface="Nunito SemiBold"/>
                <a:cs typeface="Nunito SemiBold"/>
                <a:sym typeface="Nunito SemiBold"/>
              </a:rPr>
              <a:t>Survey on Chatbot Design Techniques in Speech Conversation Systems</a:t>
            </a:r>
            <a:endParaRPr sz="1500" u="sng" dirty="0">
              <a:latin typeface="Nunito SemiBold"/>
              <a:ea typeface="Nunito SemiBold"/>
              <a:cs typeface="Nunito SemiBold"/>
              <a:sym typeface="Nunito SemiBold"/>
            </a:endParaRPr>
          </a:p>
          <a:p>
            <a:pPr marL="0" indent="0">
              <a:spcBef>
                <a:spcPts val="1200"/>
              </a:spcBef>
              <a:buNone/>
            </a:pPr>
            <a:r>
              <a:rPr lang="en-US" sz="1400" b="1" dirty="0">
                <a:latin typeface="Nunito"/>
                <a:ea typeface="Nunito"/>
                <a:cs typeface="Nunito"/>
                <a:sym typeface="Nunito"/>
              </a:rPr>
              <a:t>Year:</a:t>
            </a:r>
            <a:r>
              <a:rPr lang="en-US" sz="1400" dirty="0">
                <a:latin typeface="Nunito SemiBold"/>
                <a:ea typeface="Nunito SemiBold"/>
                <a:cs typeface="Nunito SemiBold"/>
                <a:sym typeface="Nunito SemiBold"/>
              </a:rPr>
              <a:t> 2015 (by IJACSA)</a:t>
            </a:r>
          </a:p>
          <a:p>
            <a:pPr marL="0" lvl="0" indent="0" algn="l" rtl="0">
              <a:spcBef>
                <a:spcPts val="1200"/>
              </a:spcBef>
              <a:spcAft>
                <a:spcPts val="0"/>
              </a:spcAft>
              <a:buNone/>
            </a:pPr>
            <a:r>
              <a:rPr lang="en" sz="1400" dirty="0">
                <a:latin typeface="Nunito SemiBold"/>
                <a:ea typeface="Nunito SemiBold"/>
                <a:cs typeface="Nunito SemiBold"/>
                <a:sym typeface="Nunito SemiBold"/>
              </a:rPr>
              <a:t>Key: The improvement of voice recognition rates has been the focus of a lot of study, and the technology is now getting close to becoming viable for speech-based human-computer interaction. A chatbot is a computer software that can communicate with people using Natural Language Speech. This paper presents a survey of chatbot design methodologies for human-computer speech communication. The last ten years have seen the publication of nine papers, which are then appraised for their contributions to chatbot design. </a:t>
            </a:r>
            <a:endParaRPr sz="1400" dirty="0">
              <a:latin typeface="Nunito SemiBold"/>
              <a:ea typeface="Nunito SemiBold"/>
              <a:cs typeface="Nunito SemiBold"/>
              <a:sym typeface="Nunito SemiBold"/>
            </a:endParaRPr>
          </a:p>
          <a:p>
            <a:pPr marL="0" lvl="0" indent="0" algn="l" rtl="0">
              <a:spcBef>
                <a:spcPts val="1200"/>
              </a:spcBef>
              <a:spcAft>
                <a:spcPts val="0"/>
              </a:spcAft>
              <a:buNone/>
            </a:pPr>
            <a:r>
              <a:rPr lang="en" sz="1400" b="1" dirty="0">
                <a:latin typeface="Nunito"/>
                <a:ea typeface="Nunito"/>
                <a:cs typeface="Nunito"/>
                <a:sym typeface="Nunito"/>
              </a:rPr>
              <a:t>Technique used: </a:t>
            </a:r>
            <a:r>
              <a:rPr lang="en" sz="1400" dirty="0">
                <a:latin typeface="Nunito SemiBold"/>
                <a:ea typeface="Nunito SemiBold"/>
                <a:cs typeface="Nunito SemiBold"/>
                <a:sym typeface="Nunito SemiBold"/>
              </a:rPr>
              <a:t>AI, ML, NLTK, SQL, Turing Test</a:t>
            </a:r>
            <a:endParaRPr sz="1400" dirty="0">
              <a:latin typeface="Nunito SemiBold"/>
              <a:ea typeface="Nunito SemiBold"/>
              <a:cs typeface="Nunito SemiBold"/>
              <a:sym typeface="Nunito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819150" y="5517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LITERATURE SURVEY</a:t>
            </a:r>
            <a:endParaRPr/>
          </a:p>
        </p:txBody>
      </p:sp>
      <p:sp>
        <p:nvSpPr>
          <p:cNvPr id="212" name="Google Shape;212;p27"/>
          <p:cNvSpPr txBox="1">
            <a:spLocks noGrp="1"/>
          </p:cNvSpPr>
          <p:nvPr>
            <p:ph type="body" idx="1"/>
          </p:nvPr>
        </p:nvSpPr>
        <p:spPr>
          <a:xfrm>
            <a:off x="819150" y="1377725"/>
            <a:ext cx="7505700" cy="306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Nunito SemiBold"/>
                <a:ea typeface="Nunito SemiBold"/>
                <a:cs typeface="Nunito SemiBold"/>
                <a:sym typeface="Nunito SemiBold"/>
              </a:rPr>
              <a:t>Title  : </a:t>
            </a:r>
            <a:r>
              <a:rPr lang="en" sz="1500" u="sng" dirty="0">
                <a:latin typeface="Nunito SemiBold"/>
                <a:ea typeface="Nunito SemiBold"/>
                <a:cs typeface="Nunito SemiBold"/>
                <a:sym typeface="Nunito SemiBold"/>
              </a:rPr>
              <a:t>BANK CHAT BOT – An Intelligent Assistant System using NLP and Machine Learning</a:t>
            </a:r>
            <a:endParaRPr sz="1500" u="sng" dirty="0">
              <a:latin typeface="Nunito SemiBold"/>
              <a:ea typeface="Nunito SemiBold"/>
              <a:cs typeface="Nunito SemiBold"/>
              <a:sym typeface="Nunito SemiBold"/>
            </a:endParaRPr>
          </a:p>
          <a:p>
            <a:pPr marL="0" lvl="0" indent="0" algn="l" rtl="0">
              <a:spcBef>
                <a:spcPts val="1200"/>
              </a:spcBef>
              <a:spcAft>
                <a:spcPts val="0"/>
              </a:spcAft>
              <a:buNone/>
            </a:pPr>
            <a:r>
              <a:rPr lang="en" dirty="0">
                <a:latin typeface="Nunito SemiBold"/>
                <a:ea typeface="Nunito SemiBold"/>
                <a:cs typeface="Nunito SemiBold"/>
                <a:sym typeface="Nunito SemiBold"/>
              </a:rPr>
              <a:t>Year: 2017 (by IRJET)</a:t>
            </a:r>
          </a:p>
          <a:p>
            <a:pPr marL="0" lvl="0" indent="0" algn="l" rtl="0">
              <a:spcBef>
                <a:spcPts val="1200"/>
              </a:spcBef>
              <a:spcAft>
                <a:spcPts val="0"/>
              </a:spcAft>
              <a:buNone/>
            </a:pPr>
            <a:r>
              <a:rPr lang="en" dirty="0">
                <a:latin typeface="Nunito SemiBold"/>
                <a:ea typeface="Nunito SemiBold"/>
                <a:cs typeface="Nunito SemiBold"/>
                <a:sym typeface="Nunito SemiBold"/>
              </a:rPr>
              <a:t>Key: Normally a chat bot works by a user asking a question or initiating a new topic. Chat bots can be called as software agents that simulate an entity usually a human. These are the software with artificial intelligence which allows them to understand users input and provide meaningful response using predefined knowledge base. Customers can mention their queries in natural language and the chat bot can respond to them with correct answer. Proposed chat bot application is easily accessible to customer thereby solving redundant queries anywhere anytime. As there will be fast response for inquiry, this will be time saving for both bank and customers. </a:t>
            </a:r>
            <a:endParaRPr dirty="0">
              <a:latin typeface="Nunito SemiBold"/>
              <a:ea typeface="Nunito SemiBold"/>
              <a:cs typeface="Nunito SemiBold"/>
              <a:sym typeface="Nunito SemiBold"/>
            </a:endParaRPr>
          </a:p>
          <a:p>
            <a:pPr marL="0" lvl="0" indent="0" algn="l" rtl="0">
              <a:spcBef>
                <a:spcPts val="1200"/>
              </a:spcBef>
              <a:spcAft>
                <a:spcPts val="0"/>
              </a:spcAft>
              <a:buNone/>
            </a:pPr>
            <a:r>
              <a:rPr lang="en" b="1" dirty="0">
                <a:latin typeface="Nunito"/>
                <a:ea typeface="Nunito"/>
                <a:cs typeface="Nunito"/>
                <a:sym typeface="Nunito"/>
              </a:rPr>
              <a:t>Technique Used:</a:t>
            </a:r>
            <a:r>
              <a:rPr lang="en" dirty="0">
                <a:latin typeface="Nunito SemiBold"/>
                <a:ea typeface="Nunito SemiBold"/>
                <a:cs typeface="Nunito SemiBold"/>
                <a:sym typeface="Nunito SemiBold"/>
              </a:rPr>
              <a:t> AI, ML, NLTK, Speech-to-text</a:t>
            </a:r>
            <a:endParaRPr dirty="0">
              <a:latin typeface="Nunito SemiBold"/>
              <a:ea typeface="Nunito SemiBold"/>
              <a:cs typeface="Nunito SemiBold"/>
              <a:sym typeface="Nunito SemiBold"/>
            </a:endParaRPr>
          </a:p>
          <a:p>
            <a:pPr marL="0" lvl="0" indent="0" algn="l" rtl="0">
              <a:spcBef>
                <a:spcPts val="1200"/>
              </a:spcBef>
              <a:spcAft>
                <a:spcPts val="1200"/>
              </a:spcAft>
              <a:buNone/>
            </a:pPr>
            <a:endParaRPr b="1" dirty="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819150" y="5517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LITERATURE SURVEY</a:t>
            </a:r>
            <a:endParaRPr/>
          </a:p>
        </p:txBody>
      </p:sp>
      <p:sp>
        <p:nvSpPr>
          <p:cNvPr id="212" name="Google Shape;212;p27"/>
          <p:cNvSpPr txBox="1">
            <a:spLocks noGrp="1"/>
          </p:cNvSpPr>
          <p:nvPr>
            <p:ph type="body" idx="1"/>
          </p:nvPr>
        </p:nvSpPr>
        <p:spPr>
          <a:xfrm>
            <a:off x="819150" y="1377724"/>
            <a:ext cx="7505700" cy="33502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Nunito SemiBold"/>
                <a:ea typeface="Nunito SemiBold"/>
                <a:cs typeface="Nunito SemiBold"/>
                <a:sym typeface="Nunito SemiBold"/>
              </a:rPr>
              <a:t>Title : </a:t>
            </a:r>
            <a:r>
              <a:rPr lang="en-US" sz="1500" u="sng" dirty="0">
                <a:latin typeface="Nunito SemiBold"/>
                <a:ea typeface="Nunito SemiBold"/>
                <a:cs typeface="Nunito SemiBold"/>
                <a:sym typeface="Nunito SemiBold"/>
              </a:rPr>
              <a:t>Design and Development of CHATBOT</a:t>
            </a:r>
            <a:endParaRPr sz="1500" u="sng" dirty="0">
              <a:latin typeface="Nunito SemiBold"/>
              <a:ea typeface="Nunito SemiBold"/>
              <a:cs typeface="Nunito SemiBold"/>
              <a:sym typeface="Nunito SemiBold"/>
            </a:endParaRPr>
          </a:p>
          <a:p>
            <a:pPr marL="0" lvl="0" indent="0" algn="l" rtl="0">
              <a:spcBef>
                <a:spcPts val="1200"/>
              </a:spcBef>
              <a:spcAft>
                <a:spcPts val="0"/>
              </a:spcAft>
              <a:buNone/>
            </a:pPr>
            <a:r>
              <a:rPr lang="en" dirty="0">
                <a:latin typeface="Nunito SemiBold"/>
                <a:ea typeface="Nunito SemiBold"/>
                <a:cs typeface="Nunito SemiBold"/>
                <a:sym typeface="Nunito SemiBold"/>
              </a:rPr>
              <a:t>Year: 2021 (by NIT)</a:t>
            </a:r>
          </a:p>
          <a:p>
            <a:pPr marL="0" lvl="0" indent="0" algn="l" rtl="0">
              <a:spcBef>
                <a:spcPts val="1200"/>
              </a:spcBef>
              <a:spcAft>
                <a:spcPts val="0"/>
              </a:spcAft>
              <a:buNone/>
            </a:pPr>
            <a:r>
              <a:rPr lang="en-US" dirty="0">
                <a:latin typeface="Nunito SemiBold"/>
                <a:ea typeface="Nunito SemiBold"/>
                <a:cs typeface="Nunito SemiBold"/>
                <a:sym typeface="Nunito SemiBold"/>
              </a:rPr>
              <a:t>Key: This paper reviews development history, followed by an explanation of the  architecture, and different CHATBOT classifications according  to their.  After  that,  various  design  techniques  and  approaches  and  varying platforms of build Bot are reviewed, followed by the advancement in CHATBOT is presented. It proposed  that CHATBOT  can  be very  well utilized  for  Computer Aided  Design (CAD) software applications, which can overcome the difficulty faced in procedural-based knowledge method. </a:t>
            </a:r>
          </a:p>
          <a:p>
            <a:pPr marL="0" lvl="0" indent="0" algn="l" rtl="0">
              <a:spcBef>
                <a:spcPts val="1200"/>
              </a:spcBef>
              <a:spcAft>
                <a:spcPts val="0"/>
              </a:spcAft>
              <a:buNone/>
            </a:pPr>
            <a:r>
              <a:rPr lang="en" b="1" dirty="0">
                <a:latin typeface="Nunito"/>
                <a:ea typeface="Nunito"/>
                <a:cs typeface="Nunito"/>
                <a:sym typeface="Nunito"/>
              </a:rPr>
              <a:t>Technique Used:</a:t>
            </a:r>
            <a:r>
              <a:rPr lang="en" dirty="0">
                <a:latin typeface="Nunito SemiBold"/>
                <a:ea typeface="Nunito SemiBold"/>
                <a:cs typeface="Nunito SemiBold"/>
                <a:sym typeface="Nunito SemiBold"/>
              </a:rPr>
              <a:t> </a:t>
            </a:r>
            <a:r>
              <a:rPr lang="en-US" b="0" i="0" dirty="0">
                <a:solidFill>
                  <a:srgbClr val="000000"/>
                </a:solidFill>
                <a:effectLst/>
                <a:latin typeface="ff1"/>
              </a:rPr>
              <a:t>CHATBOT, Artificial Intelligence, Machine Learning, CAD. </a:t>
            </a:r>
            <a:endParaRPr dirty="0">
              <a:latin typeface="Nunito SemiBold"/>
              <a:ea typeface="Nunito SemiBold"/>
              <a:cs typeface="Nunito SemiBold"/>
              <a:sym typeface="Nunito SemiBold"/>
            </a:endParaRPr>
          </a:p>
          <a:p>
            <a:pPr marL="0" lvl="0" indent="0" algn="l" rtl="0">
              <a:spcBef>
                <a:spcPts val="1200"/>
              </a:spcBef>
              <a:spcAft>
                <a:spcPts val="1200"/>
              </a:spcAft>
              <a:buNone/>
            </a:pPr>
            <a:r>
              <a:rPr lang="en-US" b="1" dirty="0">
                <a:latin typeface="Arial"/>
                <a:ea typeface="Arial"/>
                <a:cs typeface="Arial"/>
                <a:sym typeface="Arial"/>
              </a:rPr>
              <a:t>Limitations: </a:t>
            </a:r>
            <a:r>
              <a:rPr lang="en-US" dirty="0">
                <a:solidFill>
                  <a:srgbClr val="303030"/>
                </a:solidFill>
                <a:latin typeface="Lato" panose="020F0502020204030203" pitchFamily="34" charset="0"/>
                <a:ea typeface="Arial"/>
                <a:cs typeface="Arial"/>
                <a:sym typeface="Arial"/>
              </a:rPr>
              <a:t>C</a:t>
            </a:r>
            <a:r>
              <a:rPr lang="en-US" b="0" i="0" dirty="0">
                <a:solidFill>
                  <a:srgbClr val="303030"/>
                </a:solidFill>
                <a:effectLst/>
                <a:latin typeface="Lato" panose="020F0502020204030203" pitchFamily="34" charset="0"/>
              </a:rPr>
              <a:t>hatbots cannot establish a connection with the customers, which often goes a long way in business growth.</a:t>
            </a:r>
            <a:endParaRPr b="1" dirty="0">
              <a:latin typeface="Arial"/>
              <a:ea typeface="Arial"/>
              <a:cs typeface="Arial"/>
              <a:sym typeface="Arial"/>
            </a:endParaRPr>
          </a:p>
        </p:txBody>
      </p:sp>
    </p:spTree>
    <p:extLst>
      <p:ext uri="{BB962C8B-B14F-4D97-AF65-F5344CB8AC3E}">
        <p14:creationId xmlns:p14="http://schemas.microsoft.com/office/powerpoint/2010/main" val="3055504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9"/>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LITERATURE SURVEY</a:t>
            </a:r>
            <a:endParaRPr dirty="0"/>
          </a:p>
        </p:txBody>
      </p:sp>
      <p:sp>
        <p:nvSpPr>
          <p:cNvPr id="164" name="Google Shape;164;p19"/>
          <p:cNvSpPr txBox="1">
            <a:spLocks noGrp="1"/>
          </p:cNvSpPr>
          <p:nvPr>
            <p:ph type="body" idx="1"/>
          </p:nvPr>
        </p:nvSpPr>
        <p:spPr>
          <a:xfrm>
            <a:off x="776275" y="1519249"/>
            <a:ext cx="7505700" cy="3010221"/>
          </a:xfrm>
          <a:prstGeom prst="rect">
            <a:avLst/>
          </a:prstGeom>
        </p:spPr>
        <p:txBody>
          <a:bodyPr spcFirstLastPara="1" wrap="square" lIns="91425" tIns="91425" rIns="91425" bIns="91425" anchor="t" anchorCtr="0">
            <a:normAutofit/>
          </a:bodyPr>
          <a:lstStyle/>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Title </a:t>
            </a:r>
            <a:r>
              <a:rPr lang="en-IN" sz="1400" dirty="0">
                <a:solidFill>
                  <a:srgbClr val="222222"/>
                </a:solidFill>
                <a:latin typeface="Nunito" pitchFamily="2" charset="0"/>
                <a:ea typeface="Nunito SemiBold"/>
                <a:cs typeface="Nunito SemiBold"/>
                <a:sym typeface="Nunito SemiBold"/>
              </a:rPr>
              <a:t> - </a:t>
            </a:r>
            <a:r>
              <a:rPr lang="en-IN" sz="1400" u="sng" dirty="0">
                <a:solidFill>
                  <a:srgbClr val="222222"/>
                </a:solidFill>
                <a:latin typeface="Nunito" pitchFamily="2" charset="0"/>
                <a:ea typeface="Nunito SemiBold"/>
                <a:cs typeface="Nunito SemiBold"/>
                <a:sym typeface="Nunito SemiBold"/>
              </a:rPr>
              <a:t>Research Paper on Chatbot Development for Educational Institute</a:t>
            </a:r>
            <a:endParaRPr lang="en-IN" sz="1400" dirty="0">
              <a:solidFill>
                <a:srgbClr val="222222"/>
              </a:solidFill>
              <a:latin typeface="Nunito" pitchFamily="2" charset="0"/>
              <a:ea typeface="Nunito SemiBold"/>
              <a:cs typeface="Nunito SemiBold"/>
              <a:sym typeface="Nunito SemiBold"/>
            </a:endParaRP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Year</a:t>
            </a:r>
            <a:r>
              <a:rPr lang="en-IN" sz="1400" dirty="0">
                <a:solidFill>
                  <a:srgbClr val="222222"/>
                </a:solidFill>
                <a:latin typeface="Nunito" pitchFamily="2" charset="0"/>
                <a:ea typeface="Nunito SemiBold"/>
                <a:cs typeface="Nunito SemiBold"/>
                <a:sym typeface="Nunito SemiBold"/>
              </a:rPr>
              <a:t> - 2020</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Keywords</a:t>
            </a:r>
            <a:r>
              <a:rPr lang="en-IN" sz="1400" dirty="0">
                <a:solidFill>
                  <a:srgbClr val="222222"/>
                </a:solidFill>
                <a:latin typeface="Nunito" pitchFamily="2" charset="0"/>
                <a:ea typeface="Nunito SemiBold"/>
                <a:cs typeface="Nunito SemiBold"/>
                <a:sym typeface="Nunito SemiBold"/>
              </a:rPr>
              <a:t> - Chatbot, Artificial Intelligence, Enquiry, Response, Query</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Technique used </a:t>
            </a:r>
            <a:r>
              <a:rPr lang="en-IN" sz="1400" dirty="0">
                <a:solidFill>
                  <a:srgbClr val="222222"/>
                </a:solidFill>
                <a:latin typeface="Nunito" pitchFamily="2" charset="0"/>
                <a:ea typeface="Nunito SemiBold"/>
                <a:cs typeface="Nunito SemiBold"/>
                <a:sym typeface="Nunito SemiBold"/>
              </a:rPr>
              <a:t>- AI and natural language processing (NLP) technology to recognize sentence structure</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Limitations</a:t>
            </a:r>
            <a:r>
              <a:rPr lang="en-IN" sz="1400" dirty="0">
                <a:solidFill>
                  <a:srgbClr val="222222"/>
                </a:solidFill>
                <a:latin typeface="Nunito" pitchFamily="2" charset="0"/>
                <a:ea typeface="Nunito SemiBold"/>
                <a:cs typeface="Nunito SemiBold"/>
                <a:sym typeface="Nunito SemiBold"/>
              </a:rPr>
              <a:t> - Major drawbacks introduced by this research include the lack of human assistance in cases where the chatbot is unable to answer complex and/or personal questions or cases where students prefer human contact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185" y="845820"/>
            <a:ext cx="8535035" cy="954405"/>
          </a:xfrm>
        </p:spPr>
        <p:txBody>
          <a:bodyPr/>
          <a:lstStyle/>
          <a:p>
            <a:pPr algn="l"/>
            <a:r>
              <a:rPr lang="en-IN" altLang="en-US"/>
              <a:t>	LITERATURE SURVEY </a:t>
            </a:r>
          </a:p>
        </p:txBody>
      </p:sp>
      <p:sp>
        <p:nvSpPr>
          <p:cNvPr id="4" name="Text Placeholder 3"/>
          <p:cNvSpPr>
            <a:spLocks noGrp="1"/>
          </p:cNvSpPr>
          <p:nvPr>
            <p:ph type="body" idx="2"/>
          </p:nvPr>
        </p:nvSpPr>
        <p:spPr>
          <a:xfrm>
            <a:off x="818515" y="1675130"/>
            <a:ext cx="7506335" cy="2763520"/>
          </a:xfrm>
        </p:spPr>
        <p:txBody>
          <a:bodyPr>
            <a:normAutofit lnSpcReduction="10000"/>
          </a:bodyPr>
          <a:lstStyle/>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Title </a:t>
            </a:r>
            <a:r>
              <a:rPr lang="en-IN" sz="1400" dirty="0">
                <a:solidFill>
                  <a:srgbClr val="222222"/>
                </a:solidFill>
                <a:latin typeface="Nunito" pitchFamily="2" charset="0"/>
                <a:ea typeface="Nunito SemiBold"/>
                <a:cs typeface="Nunito SemiBold"/>
                <a:sym typeface="Nunito SemiBold"/>
              </a:rPr>
              <a:t> - </a:t>
            </a:r>
            <a:r>
              <a:rPr lang="en-IN" sz="1400" u="sng" dirty="0">
                <a:solidFill>
                  <a:srgbClr val="222222"/>
                </a:solidFill>
                <a:latin typeface="Nunito" pitchFamily="2" charset="0"/>
                <a:ea typeface="Nunito SemiBold"/>
                <a:cs typeface="Nunito SemiBold"/>
                <a:sym typeface="Nunito SemiBold"/>
              </a:rPr>
              <a:t>A Survey Paper on Chatbots</a:t>
            </a:r>
            <a:r>
              <a:rPr lang="en-IN" sz="1400" dirty="0">
                <a:solidFill>
                  <a:srgbClr val="222222"/>
                </a:solidFill>
                <a:latin typeface="Nunito" pitchFamily="2" charset="0"/>
                <a:ea typeface="Nunito SemiBold"/>
                <a:cs typeface="Nunito SemiBold"/>
                <a:sym typeface="Nunito SemiBold"/>
              </a:rPr>
              <a:t> </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Year</a:t>
            </a:r>
            <a:r>
              <a:rPr lang="en-IN" sz="1400" dirty="0">
                <a:solidFill>
                  <a:srgbClr val="222222"/>
                </a:solidFill>
                <a:latin typeface="Nunito" pitchFamily="2" charset="0"/>
                <a:ea typeface="Nunito SemiBold"/>
                <a:cs typeface="Nunito SemiBold"/>
                <a:sym typeface="Nunito SemiBold"/>
              </a:rPr>
              <a:t> - 2019 </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Keywords</a:t>
            </a:r>
            <a:r>
              <a:rPr lang="en-IN" sz="1400" dirty="0">
                <a:solidFill>
                  <a:srgbClr val="222222"/>
                </a:solidFill>
                <a:latin typeface="Nunito" pitchFamily="2" charset="0"/>
                <a:ea typeface="Nunito SemiBold"/>
                <a:cs typeface="Nunito SemiBold"/>
                <a:sym typeface="Nunito SemiBold"/>
              </a:rPr>
              <a:t> - chatbot, NLP, RNN, stress, conversation,</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dirty="0">
                <a:solidFill>
                  <a:srgbClr val="222222"/>
                </a:solidFill>
                <a:latin typeface="Nunito" pitchFamily="2" charset="0"/>
                <a:ea typeface="Nunito SemiBold"/>
                <a:cs typeface="Nunito SemiBold"/>
                <a:sym typeface="Nunito SemiBold"/>
              </a:rPr>
              <a:t>adolescents, </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Technique used </a:t>
            </a:r>
            <a:r>
              <a:rPr lang="en-IN" sz="1400" dirty="0">
                <a:solidFill>
                  <a:srgbClr val="222222"/>
                </a:solidFill>
                <a:latin typeface="Nunito" pitchFamily="2" charset="0"/>
                <a:ea typeface="Nunito SemiBold"/>
                <a:cs typeface="Nunito SemiBold"/>
                <a:sym typeface="Nunito SemiBold"/>
              </a:rPr>
              <a:t>- concept of RNN can be used for implementation of a</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dirty="0">
                <a:solidFill>
                  <a:srgbClr val="222222"/>
                </a:solidFill>
                <a:latin typeface="Nunito" pitchFamily="2" charset="0"/>
                <a:ea typeface="Nunito SemiBold"/>
                <a:cs typeface="Nunito SemiBold"/>
                <a:sym typeface="Nunito SemiBold"/>
              </a:rPr>
              <a:t>conversational chat bot.</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Limitations</a:t>
            </a:r>
            <a:r>
              <a:rPr lang="en-IN" sz="1400" dirty="0">
                <a:solidFill>
                  <a:srgbClr val="222222"/>
                </a:solidFill>
                <a:latin typeface="Nunito" pitchFamily="2" charset="0"/>
                <a:ea typeface="Nunito SemiBold"/>
                <a:cs typeface="Nunito SemiBold"/>
                <a:sym typeface="Nunito SemiBold"/>
              </a:rPr>
              <a:t> -</a:t>
            </a:r>
            <a:r>
              <a:rPr lang="en-IN" sz="1600" dirty="0">
                <a:solidFill>
                  <a:srgbClr val="222222"/>
                </a:solidFill>
                <a:latin typeface="Nunito" pitchFamily="2" charset="0"/>
                <a:ea typeface="Nunito SemiBold"/>
                <a:cs typeface="Nunito SemiBold"/>
                <a:sym typeface="Nunito SemiBold"/>
              </a:rPr>
              <a:t> lack of human intervention that plays a crucial role in configuring, training, and optimizing the system without which bots risk failure. As a result, many companies have not been able to implement them even after investing in them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585" y="845820"/>
            <a:ext cx="7581265" cy="954405"/>
          </a:xfrm>
        </p:spPr>
        <p:txBody>
          <a:bodyPr/>
          <a:lstStyle/>
          <a:p>
            <a:r>
              <a:rPr lang="en-IN" altLang="en-US"/>
              <a:t>LITERATURE SURVEY</a:t>
            </a:r>
          </a:p>
        </p:txBody>
      </p:sp>
      <p:sp>
        <p:nvSpPr>
          <p:cNvPr id="4" name="Text Placeholder 3"/>
          <p:cNvSpPr>
            <a:spLocks noGrp="1"/>
          </p:cNvSpPr>
          <p:nvPr>
            <p:ph type="body" idx="2"/>
          </p:nvPr>
        </p:nvSpPr>
        <p:spPr>
          <a:xfrm>
            <a:off x="819150" y="1990725"/>
            <a:ext cx="7505700" cy="2447925"/>
          </a:xfrm>
        </p:spPr>
        <p:txBody>
          <a:bodyPr>
            <a:normAutofit/>
          </a:bodyPr>
          <a:lstStyle/>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Title</a:t>
            </a:r>
            <a:r>
              <a:rPr lang="en-IN" dirty="0">
                <a:solidFill>
                  <a:srgbClr val="222222"/>
                </a:solidFill>
                <a:latin typeface="Nunito" pitchFamily="2" charset="0"/>
                <a:ea typeface="Nunito SemiBold"/>
                <a:cs typeface="Nunito SemiBold"/>
                <a:sym typeface="Nunito SemiBold"/>
              </a:rPr>
              <a:t> -</a:t>
            </a:r>
            <a:r>
              <a:rPr lang="en-IN" u="sng" dirty="0">
                <a:solidFill>
                  <a:srgbClr val="222222"/>
                </a:solidFill>
                <a:latin typeface="Nunito" pitchFamily="2" charset="0"/>
                <a:ea typeface="Nunito SemiBold"/>
                <a:cs typeface="Nunito SemiBold"/>
                <a:sym typeface="Nunito SemiBold"/>
              </a:rPr>
              <a:t> RESEARCH PAPER ON RULE BASED CHATBOT</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Year</a:t>
            </a:r>
            <a:r>
              <a:rPr lang="en-IN" dirty="0">
                <a:solidFill>
                  <a:srgbClr val="222222"/>
                </a:solidFill>
                <a:latin typeface="Nunito" pitchFamily="2" charset="0"/>
                <a:ea typeface="Nunito SemiBold"/>
                <a:cs typeface="Nunito SemiBold"/>
                <a:sym typeface="Nunito SemiBold"/>
              </a:rPr>
              <a:t> - 2022</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Keywords</a:t>
            </a:r>
            <a:r>
              <a:rPr lang="en-IN" dirty="0">
                <a:solidFill>
                  <a:srgbClr val="222222"/>
                </a:solidFill>
                <a:latin typeface="Nunito" pitchFamily="2" charset="0"/>
                <a:ea typeface="Nunito SemiBold"/>
                <a:cs typeface="Nunito SemiBold"/>
                <a:sym typeface="Nunito SemiBold"/>
              </a:rPr>
              <a:t> -: Chatbot, Nodejs, Html, CSS, Javascript, NPM, Enquiry, Response, Query</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Technique used </a:t>
            </a:r>
            <a:r>
              <a:rPr lang="en-IN" dirty="0">
                <a:solidFill>
                  <a:srgbClr val="222222"/>
                </a:solidFill>
                <a:latin typeface="Nunito" pitchFamily="2" charset="0"/>
                <a:ea typeface="Nunito SemiBold"/>
                <a:cs typeface="Nunito SemiBold"/>
                <a:sym typeface="Nunito SemiBold"/>
              </a:rPr>
              <a:t>- They choose the system response based on a fixed predefined set of rules, based on recognizing the lexical form of the input text without creating any new text answers</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sz="1400" b="1" dirty="0">
                <a:solidFill>
                  <a:srgbClr val="222222"/>
                </a:solidFill>
                <a:latin typeface="Nunito" pitchFamily="2" charset="0"/>
                <a:ea typeface="Nunito SemiBold"/>
                <a:cs typeface="Nunito SemiBold"/>
                <a:sym typeface="Nunito SemiBold"/>
              </a:rPr>
              <a:t>Limitations</a:t>
            </a:r>
            <a:r>
              <a:rPr lang="en-IN" dirty="0">
                <a:solidFill>
                  <a:srgbClr val="222222"/>
                </a:solidFill>
                <a:latin typeface="Nunito" pitchFamily="2" charset="0"/>
                <a:ea typeface="Nunito SemiBold"/>
                <a:cs typeface="Nunito SemiBold"/>
                <a:sym typeface="Nunito SemiBold"/>
              </a:rPr>
              <a:t> -  They can't learn on their own, they only provide answers your legal team provides from a predefined set of rules. That means your clients experience with rule based bots is very linear. In other words if your client asked questions outside its preset understanding they fail and need human intervention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865" y="845820"/>
            <a:ext cx="7753985" cy="954405"/>
          </a:xfrm>
        </p:spPr>
        <p:txBody>
          <a:bodyPr>
            <a:normAutofit/>
          </a:bodyPr>
          <a:lstStyle/>
          <a:p>
            <a:r>
              <a:rPr lang="en-IN" altLang="en-US"/>
              <a:t>LITERATURE SURVEY </a:t>
            </a:r>
          </a:p>
        </p:txBody>
      </p:sp>
      <p:sp>
        <p:nvSpPr>
          <p:cNvPr id="4" name="Text Placeholder 3"/>
          <p:cNvSpPr>
            <a:spLocks noGrp="1"/>
          </p:cNvSpPr>
          <p:nvPr>
            <p:ph type="body" idx="2"/>
          </p:nvPr>
        </p:nvSpPr>
        <p:spPr>
          <a:xfrm>
            <a:off x="571500" y="1990725"/>
            <a:ext cx="7753350" cy="2447925"/>
          </a:xfrm>
        </p:spPr>
        <p:txBody>
          <a:bodyPr/>
          <a:lstStyle/>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Title</a:t>
            </a:r>
            <a:r>
              <a:rPr lang="en-IN" dirty="0">
                <a:solidFill>
                  <a:srgbClr val="222222"/>
                </a:solidFill>
                <a:latin typeface="Nunito" pitchFamily="2" charset="0"/>
                <a:ea typeface="Nunito SemiBold"/>
                <a:cs typeface="Nunito SemiBold"/>
                <a:sym typeface="Nunito SemiBold"/>
              </a:rPr>
              <a:t> -</a:t>
            </a:r>
            <a:r>
              <a:rPr lang="en-IN" u="sng" dirty="0">
                <a:solidFill>
                  <a:srgbClr val="222222"/>
                </a:solidFill>
                <a:latin typeface="Nunito" pitchFamily="2" charset="0"/>
                <a:ea typeface="Nunito SemiBold"/>
                <a:cs typeface="Nunito SemiBold"/>
                <a:sym typeface="Nunito SemiBold"/>
              </a:rPr>
              <a:t> Physicians’ Perceptions of Chatbots in Health Care: Cross-Sectional Web-Based Survey</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Year</a:t>
            </a:r>
            <a:r>
              <a:rPr lang="en-IN" dirty="0">
                <a:solidFill>
                  <a:srgbClr val="222222"/>
                </a:solidFill>
                <a:latin typeface="Nunito" pitchFamily="2" charset="0"/>
                <a:ea typeface="Nunito SemiBold"/>
                <a:cs typeface="Nunito SemiBold"/>
                <a:sym typeface="Nunito SemiBold"/>
              </a:rPr>
              <a:t> - 2019</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Keywords</a:t>
            </a:r>
            <a:r>
              <a:rPr lang="en-IN" dirty="0">
                <a:solidFill>
                  <a:srgbClr val="222222"/>
                </a:solidFill>
                <a:latin typeface="Nunito" pitchFamily="2" charset="0"/>
                <a:ea typeface="Nunito SemiBold"/>
                <a:cs typeface="Nunito SemiBold"/>
                <a:sym typeface="Nunito SemiBold"/>
              </a:rPr>
              <a:t> - Prescriptive, Conversational, and Informative</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Technique used </a:t>
            </a:r>
            <a:r>
              <a:rPr lang="en-IN" dirty="0">
                <a:solidFill>
                  <a:srgbClr val="222222"/>
                </a:solidFill>
                <a:latin typeface="Nunito" pitchFamily="2" charset="0"/>
                <a:ea typeface="Nunito SemiBold"/>
                <a:cs typeface="Nunito SemiBold"/>
                <a:sym typeface="Nunito SemiBold"/>
              </a:rPr>
              <a:t>- machine learning and natural language processing , A.I</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Limitations</a:t>
            </a:r>
            <a:r>
              <a:rPr lang="en-IN" dirty="0">
                <a:solidFill>
                  <a:srgbClr val="222222"/>
                </a:solidFill>
                <a:latin typeface="Nunito" pitchFamily="2" charset="0"/>
                <a:ea typeface="Nunito SemiBold"/>
                <a:cs typeface="Nunito SemiBold"/>
                <a:sym typeface="Nunito SemiBold"/>
              </a:rPr>
              <a:t> - accuracy is less </a:t>
            </a:r>
          </a:p>
          <a:p>
            <a:pPr marL="146050" indent="0">
              <a:buNone/>
            </a:pPr>
            <a:endParaRPr lang="en-I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710" y="845820"/>
            <a:ext cx="7597140" cy="954405"/>
          </a:xfrm>
        </p:spPr>
        <p:txBody>
          <a:bodyPr/>
          <a:lstStyle/>
          <a:p>
            <a:r>
              <a:rPr lang="en-IN" altLang="en-US"/>
              <a:t>LITERATURE SURVEY </a:t>
            </a:r>
          </a:p>
        </p:txBody>
      </p:sp>
      <p:sp>
        <p:nvSpPr>
          <p:cNvPr id="3" name="Text Placeholder 2"/>
          <p:cNvSpPr>
            <a:spLocks noGrp="1"/>
          </p:cNvSpPr>
          <p:nvPr>
            <p:ph type="body" idx="1"/>
          </p:nvPr>
        </p:nvSpPr>
        <p:spPr>
          <a:xfrm>
            <a:off x="819150" y="1990725"/>
            <a:ext cx="7506335" cy="2447925"/>
          </a:xfrm>
        </p:spPr>
        <p:txBody>
          <a:bodyPr/>
          <a:lstStyle/>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Title</a:t>
            </a:r>
            <a:r>
              <a:rPr lang="en-IN" dirty="0">
                <a:solidFill>
                  <a:srgbClr val="222222"/>
                </a:solidFill>
                <a:latin typeface="Nunito" pitchFamily="2" charset="0"/>
                <a:ea typeface="Nunito SemiBold"/>
                <a:cs typeface="Nunito SemiBold"/>
                <a:sym typeface="Nunito SemiBold"/>
              </a:rPr>
              <a:t> -</a:t>
            </a:r>
            <a:r>
              <a:rPr lang="en-IN" u="sng" dirty="0">
                <a:solidFill>
                  <a:srgbClr val="222222"/>
                </a:solidFill>
                <a:latin typeface="Nunito" pitchFamily="2" charset="0"/>
                <a:ea typeface="Nunito SemiBold"/>
                <a:cs typeface="Nunito SemiBold"/>
                <a:sym typeface="Nunito SemiBold"/>
              </a:rPr>
              <a:t> Chatbot for Health Care and Oncology Applications</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Year</a:t>
            </a:r>
            <a:r>
              <a:rPr lang="en-IN" dirty="0">
                <a:solidFill>
                  <a:srgbClr val="222222"/>
                </a:solidFill>
                <a:latin typeface="Nunito" pitchFamily="2" charset="0"/>
                <a:ea typeface="Nunito SemiBold"/>
                <a:cs typeface="Nunito SemiBold"/>
                <a:sym typeface="Nunito SemiBold"/>
              </a:rPr>
              <a:t> - 2021</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Keywords</a:t>
            </a:r>
            <a:r>
              <a:rPr lang="en-IN" dirty="0">
                <a:solidFill>
                  <a:srgbClr val="222222"/>
                </a:solidFill>
                <a:latin typeface="Nunito" pitchFamily="2" charset="0"/>
                <a:ea typeface="Nunito SemiBold"/>
                <a:cs typeface="Nunito SemiBold"/>
                <a:sym typeface="Nunito SemiBold"/>
              </a:rPr>
              <a:t> - chatbot , artificial intelligence , machine learning , health , medicine, communication ,  diagnosis , cancer therapy; ethics , medical biophysics; </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Technique used </a:t>
            </a:r>
            <a:r>
              <a:rPr lang="en-IN" dirty="0">
                <a:solidFill>
                  <a:srgbClr val="222222"/>
                </a:solidFill>
                <a:latin typeface="Nunito" pitchFamily="2" charset="0"/>
                <a:ea typeface="Nunito SemiBold"/>
                <a:cs typeface="Nunito SemiBold"/>
                <a:sym typeface="Nunito SemiBold"/>
              </a:rPr>
              <a:t>- Artificial Intelligence and Machine Learning</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Limitations</a:t>
            </a:r>
            <a:r>
              <a:rPr lang="en-IN" dirty="0">
                <a:solidFill>
                  <a:srgbClr val="222222"/>
                </a:solidFill>
                <a:latin typeface="Nunito" pitchFamily="2" charset="0"/>
                <a:ea typeface="Nunito SemiBold"/>
                <a:cs typeface="Nunito SemiBold"/>
                <a:sym typeface="Nunito SemiBold"/>
              </a:rPr>
              <a:t> - Errors and Injuries AI-enabled chatbots are prone to errors, which eventually leads to patient injury or other significant problems</a:t>
            </a:r>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445" y="845820"/>
            <a:ext cx="7558405" cy="954405"/>
          </a:xfrm>
        </p:spPr>
        <p:txBody>
          <a:bodyPr/>
          <a:lstStyle/>
          <a:p>
            <a:r>
              <a:rPr lang="en-IN" altLang="en-US"/>
              <a:t>LITERATURE SURVEY </a:t>
            </a:r>
          </a:p>
        </p:txBody>
      </p:sp>
      <p:sp>
        <p:nvSpPr>
          <p:cNvPr id="4" name="Text Placeholder 3"/>
          <p:cNvSpPr>
            <a:spLocks noGrp="1"/>
          </p:cNvSpPr>
          <p:nvPr>
            <p:ph type="body" idx="2"/>
          </p:nvPr>
        </p:nvSpPr>
        <p:spPr>
          <a:xfrm>
            <a:off x="819150" y="1990725"/>
            <a:ext cx="7505700" cy="2447925"/>
          </a:xfrm>
        </p:spPr>
        <p:txBody>
          <a:bodyPr/>
          <a:lstStyle/>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Title</a:t>
            </a:r>
            <a:r>
              <a:rPr lang="en-IN" dirty="0">
                <a:solidFill>
                  <a:srgbClr val="222222"/>
                </a:solidFill>
                <a:latin typeface="Nunito" pitchFamily="2" charset="0"/>
                <a:ea typeface="Nunito SemiBold"/>
                <a:cs typeface="Nunito SemiBold"/>
                <a:sym typeface="Nunito SemiBold"/>
              </a:rPr>
              <a:t> -</a:t>
            </a:r>
            <a:r>
              <a:rPr lang="en-IN" u="sng" dirty="0">
                <a:solidFill>
                  <a:srgbClr val="222222"/>
                </a:solidFill>
                <a:latin typeface="Nunito" pitchFamily="2" charset="0"/>
                <a:ea typeface="Nunito SemiBold"/>
                <a:cs typeface="Nunito SemiBold"/>
                <a:sym typeface="Nunito SemiBold"/>
              </a:rPr>
              <a:t> The Impact of Chatbots on the Relationship between Integrated Marketing Communication and Online Purchasing Behavior in The Frontier Market </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Year</a:t>
            </a:r>
            <a:r>
              <a:rPr lang="en-IN" dirty="0">
                <a:solidFill>
                  <a:srgbClr val="222222"/>
                </a:solidFill>
                <a:latin typeface="Nunito" pitchFamily="2" charset="0"/>
                <a:ea typeface="Nunito SemiBold"/>
                <a:cs typeface="Nunito SemiBold"/>
                <a:sym typeface="Nunito SemiBold"/>
              </a:rPr>
              <a:t> - 2021</a:t>
            </a: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Technique used </a:t>
            </a:r>
            <a:r>
              <a:rPr lang="en-IN" dirty="0">
                <a:solidFill>
                  <a:srgbClr val="222222"/>
                </a:solidFill>
                <a:latin typeface="Nunito" pitchFamily="2" charset="0"/>
                <a:ea typeface="Nunito SemiBold"/>
                <a:cs typeface="Nunito SemiBold"/>
                <a:sym typeface="Nunito SemiBold"/>
              </a:rPr>
              <a:t>- </a:t>
            </a:r>
            <a:r>
              <a:rPr lang="en-GB" dirty="0">
                <a:solidFill>
                  <a:srgbClr val="222222"/>
                </a:solidFill>
                <a:latin typeface="Nunito SemiBold"/>
                <a:ea typeface="Nunito SemiBold"/>
                <a:cs typeface="Nunito SemiBold"/>
                <a:sym typeface="Nunito SemiBold"/>
              </a:rPr>
              <a:t>AI,ML to store files, Lemmatization</a:t>
            </a:r>
            <a:endParaRPr lang="en-IN" dirty="0">
              <a:solidFill>
                <a:srgbClr val="222222"/>
              </a:solidFill>
              <a:latin typeface="Nunito" pitchFamily="2" charset="0"/>
              <a:ea typeface="Nunito SemiBold"/>
              <a:cs typeface="Nunito SemiBold"/>
              <a:sym typeface="Nunito SemiBold"/>
            </a:endParaRPr>
          </a:p>
          <a:p>
            <a:pPr marL="0" marR="0" lvl="0" indent="0" algn="l" defTabSz="914400" rtl="0" eaLnBrk="1" fontAlgn="auto" latinLnBrk="0" hangingPunct="1">
              <a:lnSpc>
                <a:spcPct val="115000"/>
              </a:lnSpc>
              <a:spcBef>
                <a:spcPts val="0"/>
              </a:spcBef>
              <a:spcAft>
                <a:spcPts val="0"/>
              </a:spcAft>
              <a:buClr>
                <a:srgbClr val="233A44"/>
              </a:buClr>
              <a:buSzPts val="1300"/>
              <a:buFont typeface="Calibri" panose="020F0502020204030204"/>
              <a:buNone/>
              <a:defRPr/>
            </a:pPr>
            <a:r>
              <a:rPr lang="en-IN" b="1" dirty="0">
                <a:solidFill>
                  <a:srgbClr val="222222"/>
                </a:solidFill>
                <a:latin typeface="Nunito" pitchFamily="2" charset="0"/>
                <a:ea typeface="Nunito SemiBold"/>
                <a:cs typeface="Nunito SemiBold"/>
                <a:sym typeface="Nunito SemiBold"/>
              </a:rPr>
              <a:t>Limitations</a:t>
            </a:r>
            <a:r>
              <a:rPr lang="en-IN" dirty="0">
                <a:solidFill>
                  <a:srgbClr val="222222"/>
                </a:solidFill>
                <a:latin typeface="Nunito" pitchFamily="2" charset="0"/>
                <a:ea typeface="Nunito SemiBold"/>
                <a:cs typeface="Nunito SemiBold"/>
                <a:sym typeface="Nunito SemiBold"/>
              </a:rPr>
              <a:t> - sound too Mechanical , here Chatbots can only handle basic Questions , require constant maintenance </a:t>
            </a:r>
          </a:p>
          <a:p>
            <a:pPr marL="146050" indent="0">
              <a:buNone/>
            </a:pP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References</a:t>
            </a:r>
            <a:endParaRPr/>
          </a:p>
        </p:txBody>
      </p:sp>
      <p:sp>
        <p:nvSpPr>
          <p:cNvPr id="328" name="Google Shape;328;p45"/>
          <p:cNvSpPr txBox="1">
            <a:spLocks noGrp="1"/>
          </p:cNvSpPr>
          <p:nvPr>
            <p:ph type="body" idx="1"/>
          </p:nvPr>
        </p:nvSpPr>
        <p:spPr>
          <a:xfrm>
            <a:off x="819150" y="1451200"/>
            <a:ext cx="7505700" cy="2987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a:solidFill>
                  <a:srgbClr val="000000"/>
                </a:solidFill>
                <a:latin typeface="Nunito"/>
                <a:ea typeface="Nunito"/>
                <a:cs typeface="Nunito"/>
                <a:sym typeface="Nunito"/>
              </a:rPr>
              <a:t>1)	A., Sameera &amp; John, Dr. (2015). Survey on Chatbot Design Techniques in Speech Conversation Systems. International Journal of Advanced Computer Science and Applications. 6. 10.14569/IJACSA.2015.060712.</a:t>
            </a:r>
            <a:endParaRPr sz="1100">
              <a:solidFill>
                <a:srgbClr val="000000"/>
              </a:solidFill>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Nunito"/>
                <a:ea typeface="Nunito"/>
                <a:cs typeface="Nunito"/>
                <a:sym typeface="Nunito"/>
              </a:rPr>
              <a:t>2)	Dibitonto, Massimiliano &amp; Leszczynska, Katarzyna &amp; Tazzi, Federica &amp; Medaglia, Carlo. (2018). Chatbot in a Campus Environment: Design of LiSA, a Virtual Assistant to Help Students in Their University Life. 10.1007/978-3-319-91250-9_9.</a:t>
            </a:r>
            <a:endParaRPr sz="1100">
              <a:solidFill>
                <a:srgbClr val="000000"/>
              </a:solidFill>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Nunito"/>
                <a:ea typeface="Nunito"/>
                <a:cs typeface="Nunito"/>
                <a:sym typeface="Nunito"/>
              </a:rPr>
              <a:t>3)	Reynald, D. J. (2017). NATURAL LANGUAGE PROCESSING USING PYTHON. International Journal of Scientific &amp; Engineering Research, 8(5).</a:t>
            </a:r>
            <a:r>
              <a:rPr lang="en" sz="1100">
                <a:solidFill>
                  <a:srgbClr val="000000"/>
                </a:solidFill>
                <a:uFill>
                  <a:noFill/>
                </a:uFill>
                <a:latin typeface="Nunito"/>
                <a:ea typeface="Nunito"/>
                <a:cs typeface="Nunito"/>
                <a:sym typeface="Nunito"/>
                <a:hlinkClick r:id="rId3">
                  <a:extLst>
                    <a:ext uri="{A12FA001-AC4F-418D-AE19-62706E023703}">
                      <ahyp:hlinkClr xmlns:ahyp="http://schemas.microsoft.com/office/drawing/2018/hyperlinkcolor" val="tx"/>
                    </a:ext>
                  </a:extLst>
                </a:hlinkClick>
              </a:rPr>
              <a:t> </a:t>
            </a:r>
            <a:r>
              <a:rPr lang="en" sz="1100" u="sng">
                <a:solidFill>
                  <a:schemeClr val="hlink"/>
                </a:solidFill>
                <a:latin typeface="Nunito"/>
                <a:ea typeface="Nunito"/>
                <a:cs typeface="Nunito"/>
                <a:sym typeface="Nunito"/>
                <a:hlinkClick r:id="rId3"/>
              </a:rPr>
              <a:t>http://www.ijser.org</a:t>
            </a:r>
            <a:endParaRPr sz="1100" u="sng">
              <a:solidFill>
                <a:schemeClr val="hlink"/>
              </a:solidFill>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Nunito"/>
                <a:ea typeface="Nunito"/>
                <a:cs typeface="Nunito"/>
                <a:sym typeface="Nunito"/>
              </a:rPr>
              <a:t>4)	Shakhovska, N., Basystiuk, O., &amp; Shakhovska, K. (2019). Development of the Speech-to-Text Chatbot Interface Based on Google API. In MoMLeT (pp. 212-221).</a:t>
            </a:r>
            <a:endParaRPr sz="1100">
              <a:solidFill>
                <a:srgbClr val="000000"/>
              </a:solidFill>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Nunito"/>
                <a:ea typeface="Nunito"/>
                <a:cs typeface="Nunito"/>
                <a:sym typeface="Nunito"/>
              </a:rPr>
              <a:t>5)	Ayanouz, S., Abdelhakim, B. A., &amp; Benhmed, M. (2020, March). A smart chatbot architecture based NLP and machine learning for health care assistance. In Proceedings of the 3rd International Conference on Networking, Information Systems &amp; Security (pp. 1-6).</a:t>
            </a:r>
            <a:endParaRPr sz="1100">
              <a:solidFill>
                <a:srgbClr val="000000"/>
              </a:solidFill>
              <a:latin typeface="Nunito"/>
              <a:ea typeface="Nunito"/>
              <a:cs typeface="Nunito"/>
              <a:sym typeface="Nunito"/>
            </a:endParaRPr>
          </a:p>
          <a:p>
            <a:pPr marL="457200" lvl="0" indent="0" algn="l" rtl="0">
              <a:spcBef>
                <a:spcPts val="1200"/>
              </a:spcBef>
              <a:spcAft>
                <a:spcPts val="0"/>
              </a:spcAft>
              <a:buNone/>
            </a:pPr>
            <a:endParaRPr sz="1400">
              <a:solidFill>
                <a:srgbClr val="000000"/>
              </a:solidFill>
              <a:latin typeface="Times New Roman"/>
              <a:ea typeface="Times New Roman"/>
              <a:cs typeface="Times New Roman"/>
              <a:sym typeface="Times New Roman"/>
            </a:endParaRPr>
          </a:p>
          <a:p>
            <a:pPr marL="457200" lvl="0" indent="0" algn="l" rtl="0">
              <a:spcBef>
                <a:spcPts val="1200"/>
              </a:spcBef>
              <a:spcAft>
                <a:spcPts val="12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References</a:t>
            </a:r>
            <a:endParaRPr/>
          </a:p>
        </p:txBody>
      </p:sp>
      <p:sp>
        <p:nvSpPr>
          <p:cNvPr id="334" name="Google Shape;334;p46"/>
          <p:cNvSpPr txBox="1">
            <a:spLocks noGrp="1"/>
          </p:cNvSpPr>
          <p:nvPr>
            <p:ph type="body" idx="1"/>
          </p:nvPr>
        </p:nvSpPr>
        <p:spPr>
          <a:xfrm>
            <a:off x="819150" y="1524675"/>
            <a:ext cx="7505700" cy="29301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a:solidFill>
                  <a:srgbClr val="000000"/>
                </a:solidFill>
                <a:latin typeface="Nunito"/>
                <a:ea typeface="Nunito"/>
                <a:cs typeface="Nunito"/>
                <a:sym typeface="Nunito"/>
              </a:rPr>
              <a:t>6)	Alemi, A. A., &amp; Ginsparg, P. (2015). Text segmentation based on semantic word embeddings. </a:t>
            </a:r>
            <a:r>
              <a:rPr lang="en" sz="1100" i="1">
                <a:solidFill>
                  <a:srgbClr val="000000"/>
                </a:solidFill>
                <a:latin typeface="Nunito"/>
                <a:ea typeface="Nunito"/>
                <a:cs typeface="Nunito"/>
                <a:sym typeface="Nunito"/>
              </a:rPr>
              <a:t>arXiv preprint arXiv:1503.05543</a:t>
            </a:r>
            <a:r>
              <a:rPr lang="en" sz="1100">
                <a:solidFill>
                  <a:srgbClr val="000000"/>
                </a:solidFill>
                <a:latin typeface="Nunito"/>
                <a:ea typeface="Nunito"/>
                <a:cs typeface="Nunito"/>
                <a:sym typeface="Nunito"/>
              </a:rPr>
              <a:t>.</a:t>
            </a:r>
            <a:endParaRPr sz="1100">
              <a:solidFill>
                <a:srgbClr val="000000"/>
              </a:solidFill>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Nunito"/>
                <a:ea typeface="Nunito"/>
                <a:cs typeface="Nunito"/>
                <a:sym typeface="Nunito"/>
              </a:rPr>
              <a:t>7)	Kulkarni, C. S., Bhavsar, A. U., Pingale, S. R., &amp; Kumbhar, S. S. (2017). BANK CHAT BOT–an intelligent assistant system using NLP and machine learning. International Research Journal of Engineering and Technology, 4(5), 2374-2377.</a:t>
            </a:r>
            <a:endParaRPr sz="1100">
              <a:solidFill>
                <a:srgbClr val="000000"/>
              </a:solidFill>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Nunito"/>
                <a:ea typeface="Nunito"/>
                <a:cs typeface="Nunito"/>
                <a:sym typeface="Nunito"/>
              </a:rPr>
              <a:t>8)	Pradeep, J., Vijayakumar, K., &amp; Harikrishnan, M. (2022). Voice Recognition Using Natural Language Processing. In Big data management in Sensing (pp. 15-23). River Publishers.</a:t>
            </a:r>
            <a:endParaRPr sz="1100">
              <a:solidFill>
                <a:srgbClr val="000000"/>
              </a:solidFill>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Nunito"/>
                <a:ea typeface="Nunito"/>
                <a:cs typeface="Nunito"/>
                <a:sym typeface="Nunito"/>
              </a:rPr>
              <a:t>9)	Yuhua Li, David McLean, Zuhair A. Bandar, James D. O’Shea, Keeley Crockett, “Sentence Similarity Based on Semantic Nets and Corpus Statistics”, IEEE Transactions on Knowledge and Data Engineering, Volume 18 - No. 8, August 2006.</a:t>
            </a:r>
            <a:endParaRPr sz="1100">
              <a:solidFill>
                <a:srgbClr val="000000"/>
              </a:solidFill>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Nunito"/>
                <a:ea typeface="Nunito"/>
                <a:cs typeface="Nunito"/>
                <a:sym typeface="Nunito"/>
              </a:rPr>
              <a:t>10)                    Emanuela Haller, Traian Rebedea, “Designing a Chat-bot that Simulates an Historical Figure”, IEEE Conference Publications, July 2013.</a:t>
            </a:r>
            <a:endParaRPr sz="1100">
              <a:solidFill>
                <a:srgbClr val="000000"/>
              </a:solidFill>
              <a:latin typeface="Nunito"/>
              <a:ea typeface="Nunito"/>
              <a:cs typeface="Nunito"/>
              <a:sym typeface="Nunito"/>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2611</Words>
  <Application>Microsoft Office PowerPoint</Application>
  <PresentationFormat>On-screen Show (16:9)</PresentationFormat>
  <Paragraphs>128</Paragraphs>
  <Slides>26</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Courier New</vt:lpstr>
      <vt:lpstr>Nunito </vt:lpstr>
      <vt:lpstr>ff1</vt:lpstr>
      <vt:lpstr>Times New Roman</vt:lpstr>
      <vt:lpstr>Calibri</vt:lpstr>
      <vt:lpstr>Nunito</vt:lpstr>
      <vt:lpstr>Lato</vt:lpstr>
      <vt:lpstr>Arial</vt:lpstr>
      <vt:lpstr>Nunito SemiBold</vt:lpstr>
      <vt:lpstr>Shift</vt:lpstr>
      <vt:lpstr>Natural Language Processing</vt:lpstr>
      <vt:lpstr>Team Members</vt:lpstr>
      <vt:lpstr>VIT Chatbot</vt:lpstr>
      <vt:lpstr>Problem Statement</vt:lpstr>
      <vt:lpstr>   VIT chat-bot is a simple web based application which aims to provide all the necessary information regarding college. The chat-bot uses Natural Language Processing and Artificial Neural Network to have conversation with humans. VIT chatbot will responds to questions related to college posed to it in natural language as if it were a real person. It responds using a combination of pre-programmed scripts and machine learning algorithms. When asked a question, the chatbot will answer using the knowledge database that is currently available to it. If the conversation introduces a concept it isn’t programmed to understand; it will pass it to a human operator. It will learn from that interaction as well as future interactions in either case. As a result, the scope and importance of the chatbot will gradually expand. </vt:lpstr>
      <vt:lpstr>   To analyze users queries and understand users message.   To provide an answer to the query of the user very effectively.   To save the time of the user since s/he does not have to personally go to the college for inquiry.   This system will help the student to be updated about the college activities.   The system will reply using an effective GUI which implies that as if a real person is talking to the user.  </vt:lpstr>
      <vt:lpstr>The major features of the chatbot are:   College admission related queries could be answered through it.   Viewing user profiles and retrieves attendance and grade/ pointers.   College students can get information about examinations to be held.   College students can fetch particulars about placement activities  </vt:lpstr>
      <vt:lpstr>It enables the students to be updated with college activities.   It saves time for the students as well as teaching and non-teaching staffs.   It is providing us a readily available information source without taking any physical efforts.   It is easily accessible and saving time and money also. </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 LITERATURE SURVEY </vt:lpstr>
      <vt:lpstr>LITERATURE SURVEY</vt:lpstr>
      <vt:lpstr>LITERATURE SURVEY </vt:lpstr>
      <vt:lpstr>LITERATURE SURVEY </vt:lpstr>
      <vt:lpstr>LITERATURE SURVEY </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dc:title>
  <dc:creator>M M</dc:creator>
  <cp:lastModifiedBy>M M</cp:lastModifiedBy>
  <cp:revision>3</cp:revision>
  <dcterms:modified xsi:type="dcterms:W3CDTF">2023-02-10T08:15:20Z</dcterms:modified>
</cp:coreProperties>
</file>